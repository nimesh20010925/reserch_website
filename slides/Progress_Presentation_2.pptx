
<file path=[Content_Types].xml><?xml version="1.0" encoding="utf-8"?>
<Types xmlns="http://schemas.openxmlformats.org/package/2006/content-types">
  <Default Extension="fntdata" ContentType="application/x-fontdata"/>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1"/>
  </p:notesMasterIdLst>
  <p:sldIdLst>
    <p:sldId id="303" r:id="rId5"/>
    <p:sldId id="288" r:id="rId6"/>
    <p:sldId id="292" r:id="rId7"/>
    <p:sldId id="293" r:id="rId8"/>
    <p:sldId id="278" r:id="rId9"/>
    <p:sldId id="302" r:id="rId10"/>
  </p:sldIdLst>
  <p:sldSz cx="18288000" cy="10287000"/>
  <p:notesSz cx="6858000" cy="9144000"/>
  <p:embeddedFontLst>
    <p:embeddedFont>
      <p:font typeface="Cambria" panose="02040503050406030204" pitchFamily="18" charset="0"/>
      <p:regular r:id="rId12"/>
      <p:bold r:id="rId13"/>
      <p:italic r:id="rId14"/>
      <p:boldItalic r:id="rId15"/>
    </p:embeddedFont>
    <p:embeddedFont>
      <p:font typeface="Poppins" panose="00000500000000000000" pitchFamily="2" charset="0"/>
      <p:regular r:id="rId16"/>
      <p:bold r:id="rId17"/>
      <p:italic r:id="rId18"/>
      <p:bold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028EC-FEEA-923A-8EC9-F269EDEF8336}" v="9" dt="2026-03-10T02:35:33.150"/>
    <p1510:client id="{62BC440C-153B-798F-A3EF-4EE671F7ED27}" v="18" dt="2026-03-10T02:24:36.143"/>
    <p1510:client id="{7C9D9DFE-A0F9-E9E7-C99B-73D35152B0D2}" v="9" dt="2026-03-10T02:41:12.1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370"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ASEKARA R.G.S it22292940" userId="S::it22292940@my.sliit.lk::2c5a25ee-9c35-49cb-92f3-85d27fcdb9b0" providerId="AD" clId="Web-{05B028EC-FEEA-923A-8EC9-F269EDEF8336}"/>
    <pc:docChg chg="modSld">
      <pc:chgData name="JAYASEKARA R.G.S it22292940" userId="S::it22292940@my.sliit.lk::2c5a25ee-9c35-49cb-92f3-85d27fcdb9b0" providerId="AD" clId="Web-{05B028EC-FEEA-923A-8EC9-F269EDEF8336}" dt="2026-03-10T02:35:32.603" v="7" actId="14100"/>
      <pc:docMkLst>
        <pc:docMk/>
      </pc:docMkLst>
      <pc:sldChg chg="modSp">
        <pc:chgData name="JAYASEKARA R.G.S it22292940" userId="S::it22292940@my.sliit.lk::2c5a25ee-9c35-49cb-92f3-85d27fcdb9b0" providerId="AD" clId="Web-{05B028EC-FEEA-923A-8EC9-F269EDEF8336}" dt="2026-03-10T02:25:05.442" v="0" actId="14100"/>
        <pc:sldMkLst>
          <pc:docMk/>
          <pc:sldMk cId="0" sldId="267"/>
        </pc:sldMkLst>
        <pc:picChg chg="mod">
          <ac:chgData name="JAYASEKARA R.G.S it22292940" userId="S::it22292940@my.sliit.lk::2c5a25ee-9c35-49cb-92f3-85d27fcdb9b0" providerId="AD" clId="Web-{05B028EC-FEEA-923A-8EC9-F269EDEF8336}" dt="2026-03-10T02:25:05.442" v="0" actId="14100"/>
          <ac:picMkLst>
            <pc:docMk/>
            <pc:sldMk cId="0" sldId="267"/>
            <ac:picMk id="2" creationId="{BAC38C2B-5800-2EEF-A4CD-9FC69D0F7219}"/>
          </ac:picMkLst>
        </pc:picChg>
      </pc:sldChg>
      <pc:sldChg chg="addSp modSp">
        <pc:chgData name="JAYASEKARA R.G.S it22292940" userId="S::it22292940@my.sliit.lk::2c5a25ee-9c35-49cb-92f3-85d27fcdb9b0" providerId="AD" clId="Web-{05B028EC-FEEA-923A-8EC9-F269EDEF8336}" dt="2026-03-10T02:35:32.603" v="7" actId="14100"/>
        <pc:sldMkLst>
          <pc:docMk/>
          <pc:sldMk cId="2131815768" sldId="293"/>
        </pc:sldMkLst>
        <pc:picChg chg="add mod">
          <ac:chgData name="JAYASEKARA R.G.S it22292940" userId="S::it22292940@my.sliit.lk::2c5a25ee-9c35-49cb-92f3-85d27fcdb9b0" providerId="AD" clId="Web-{05B028EC-FEEA-923A-8EC9-F269EDEF8336}" dt="2026-03-10T02:35:32.603" v="7" actId="14100"/>
          <ac:picMkLst>
            <pc:docMk/>
            <pc:sldMk cId="2131815768" sldId="293"/>
            <ac:picMk id="3" creationId="{4D760893-9A40-50E6-FFD1-95ECA38DF14C}"/>
          </ac:picMkLst>
        </pc:picChg>
      </pc:sldChg>
      <pc:sldChg chg="addSp modSp addAnim">
        <pc:chgData name="JAYASEKARA R.G.S it22292940" userId="S::it22292940@my.sliit.lk::2c5a25ee-9c35-49cb-92f3-85d27fcdb9b0" providerId="AD" clId="Web-{05B028EC-FEEA-923A-8EC9-F269EDEF8336}" dt="2026-03-10T02:27:24.221" v="5" actId="14100"/>
        <pc:sldMkLst>
          <pc:docMk/>
          <pc:sldMk cId="3762784463" sldId="311"/>
        </pc:sldMkLst>
        <pc:picChg chg="add mod">
          <ac:chgData name="JAYASEKARA R.G.S it22292940" userId="S::it22292940@my.sliit.lk::2c5a25ee-9c35-49cb-92f3-85d27fcdb9b0" providerId="AD" clId="Web-{05B028EC-FEEA-923A-8EC9-F269EDEF8336}" dt="2026-03-10T02:27:24.221" v="5" actId="14100"/>
          <ac:picMkLst>
            <pc:docMk/>
            <pc:sldMk cId="3762784463" sldId="311"/>
            <ac:picMk id="3" creationId="{8B9F3CE8-C294-6C44-FDE1-5754EBD130D9}"/>
          </ac:picMkLst>
        </pc:picChg>
      </pc:sldChg>
    </pc:docChg>
  </pc:docChgLst>
  <pc:docChgLst>
    <pc:chgData name="SENDANAYAKA H.K. it22582324" userId="S::it22582324@my.sliit.lk::34e693f6-8260-4de3-8292-a344d94a8c9e" providerId="AD" clId="Web-{7C9D9DFE-A0F9-E9E7-C99B-73D35152B0D2}"/>
    <pc:docChg chg="modSld">
      <pc:chgData name="SENDANAYAKA H.K. it22582324" userId="S::it22582324@my.sliit.lk::34e693f6-8260-4de3-8292-a344d94a8c9e" providerId="AD" clId="Web-{7C9D9DFE-A0F9-E9E7-C99B-73D35152B0D2}" dt="2026-03-10T02:41:12.115" v="8" actId="14100"/>
      <pc:docMkLst>
        <pc:docMk/>
      </pc:docMkLst>
      <pc:sldChg chg="modSp">
        <pc:chgData name="SENDANAYAKA H.K. it22582324" userId="S::it22582324@my.sliit.lk::34e693f6-8260-4de3-8292-a344d94a8c9e" providerId="AD" clId="Web-{7C9D9DFE-A0F9-E9E7-C99B-73D35152B0D2}" dt="2026-03-10T02:41:12.115" v="8" actId="14100"/>
        <pc:sldMkLst>
          <pc:docMk/>
          <pc:sldMk cId="2131815768" sldId="293"/>
        </pc:sldMkLst>
        <pc:picChg chg="mod">
          <ac:chgData name="SENDANAYAKA H.K. it22582324" userId="S::it22582324@my.sliit.lk::34e693f6-8260-4de3-8292-a344d94a8c9e" providerId="AD" clId="Web-{7C9D9DFE-A0F9-E9E7-C99B-73D35152B0D2}" dt="2026-03-10T02:41:12.115" v="8" actId="14100"/>
          <ac:picMkLst>
            <pc:docMk/>
            <pc:sldMk cId="2131815768" sldId="293"/>
            <ac:picMk id="3" creationId="{4D760893-9A40-50E6-FFD1-95ECA38DF14C}"/>
          </ac:picMkLst>
        </pc:picChg>
      </pc:sldChg>
    </pc:docChg>
  </pc:docChgLst>
  <pc:docChgLst>
    <pc:chgData name="JAYASEKARA R.G.S it22292940" userId="S::it22292940@my.sliit.lk::2c5a25ee-9c35-49cb-92f3-85d27fcdb9b0" providerId="AD" clId="Web-{62BC440C-153B-798F-A3EF-4EE671F7ED27}"/>
    <pc:docChg chg="addSld delSld modSld">
      <pc:chgData name="JAYASEKARA R.G.S it22292940" userId="S::it22292940@my.sliit.lk::2c5a25ee-9c35-49cb-92f3-85d27fcdb9b0" providerId="AD" clId="Web-{62BC440C-153B-798F-A3EF-4EE671F7ED27}" dt="2026-03-10T01:24:24.413" v="15"/>
      <pc:docMkLst>
        <pc:docMk/>
      </pc:docMkLst>
      <pc:sldChg chg="addSp modSp new addAnim">
        <pc:chgData name="JAYASEKARA R.G.S it22292940" userId="S::it22292940@my.sliit.lk::2c5a25ee-9c35-49cb-92f3-85d27fcdb9b0" providerId="AD" clId="Web-{62BC440C-153B-798F-A3EF-4EE671F7ED27}" dt="2026-03-10T01:14:24.274" v="1"/>
        <pc:sldMkLst>
          <pc:docMk/>
          <pc:sldMk cId="2778511257" sldId="307"/>
        </pc:sldMkLst>
        <pc:picChg chg="add mod">
          <ac:chgData name="JAYASEKARA R.G.S it22292940" userId="S::it22292940@my.sliit.lk::2c5a25ee-9c35-49cb-92f3-85d27fcdb9b0" providerId="AD" clId="Web-{62BC440C-153B-798F-A3EF-4EE671F7ED27}" dt="2026-03-10T01:14:24.274" v="1"/>
          <ac:picMkLst>
            <pc:docMk/>
            <pc:sldMk cId="2778511257" sldId="307"/>
            <ac:picMk id="3" creationId="{C9005679-7F7E-FE19-5E48-A59C343CDC9A}"/>
          </ac:picMkLst>
        </pc:picChg>
      </pc:sldChg>
      <pc:sldChg chg="addSp modSp new del addAnim">
        <pc:chgData name="JAYASEKARA R.G.S it22292940" userId="S::it22292940@my.sliit.lk::2c5a25ee-9c35-49cb-92f3-85d27fcdb9b0" providerId="AD" clId="Web-{62BC440C-153B-798F-A3EF-4EE671F7ED27}" dt="2026-03-10T01:21:37.598" v="6"/>
        <pc:sldMkLst>
          <pc:docMk/>
          <pc:sldMk cId="163769223" sldId="308"/>
        </pc:sldMkLst>
        <pc:picChg chg="add mod">
          <ac:chgData name="JAYASEKARA R.G.S it22292940" userId="S::it22292940@my.sliit.lk::2c5a25ee-9c35-49cb-92f3-85d27fcdb9b0" providerId="AD" clId="Web-{62BC440C-153B-798F-A3EF-4EE671F7ED27}" dt="2026-03-10T01:17:41.280" v="3"/>
          <ac:picMkLst>
            <pc:docMk/>
            <pc:sldMk cId="163769223" sldId="308"/>
            <ac:picMk id="3" creationId="{4CF00C57-03F9-5D60-C522-BCD96DC6FC21}"/>
          </ac:picMkLst>
        </pc:picChg>
      </pc:sldChg>
      <pc:sldChg chg="addSp modSp new addAnim">
        <pc:chgData name="JAYASEKARA R.G.S it22292940" userId="S::it22292940@my.sliit.lk::2c5a25ee-9c35-49cb-92f3-85d27fcdb9b0" providerId="AD" clId="Web-{62BC440C-153B-798F-A3EF-4EE671F7ED27}" dt="2026-03-10T01:20:57.410" v="5"/>
        <pc:sldMkLst>
          <pc:docMk/>
          <pc:sldMk cId="3356140640" sldId="309"/>
        </pc:sldMkLst>
        <pc:picChg chg="add mod">
          <ac:chgData name="JAYASEKARA R.G.S it22292940" userId="S::it22292940@my.sliit.lk::2c5a25ee-9c35-49cb-92f3-85d27fcdb9b0" providerId="AD" clId="Web-{62BC440C-153B-798F-A3EF-4EE671F7ED27}" dt="2026-03-10T01:20:57.410" v="5"/>
          <ac:picMkLst>
            <pc:docMk/>
            <pc:sldMk cId="3356140640" sldId="309"/>
            <ac:picMk id="3" creationId="{FEF84601-9CDC-3A54-E0FA-895C2C1A0759}"/>
          </ac:picMkLst>
        </pc:picChg>
      </pc:sldChg>
      <pc:sldChg chg="addSp delSp modSp new mod setBg addAnim">
        <pc:chgData name="JAYASEKARA R.G.S it22292940" userId="S::it22292940@my.sliit.lk::2c5a25ee-9c35-49cb-92f3-85d27fcdb9b0" providerId="AD" clId="Web-{62BC440C-153B-798F-A3EF-4EE671F7ED27}" dt="2026-03-10T01:24:24.413" v="15"/>
        <pc:sldMkLst>
          <pc:docMk/>
          <pc:sldMk cId="2107124545" sldId="310"/>
        </pc:sldMkLst>
        <pc:spChg chg="mod ord">
          <ac:chgData name="JAYASEKARA R.G.S it22292940" userId="S::it22292940@my.sliit.lk::2c5a25ee-9c35-49cb-92f3-85d27fcdb9b0" providerId="AD" clId="Web-{62BC440C-153B-798F-A3EF-4EE671F7ED27}" dt="2026-03-10T01:22:24.693" v="11"/>
          <ac:spMkLst>
            <pc:docMk/>
            <pc:sldMk cId="2107124545" sldId="310"/>
            <ac:spMk id="2" creationId="{07A755B7-5AC3-695D-BD5D-EC2F4AB34D04}"/>
          </ac:spMkLst>
        </pc:spChg>
        <pc:spChg chg="add">
          <ac:chgData name="JAYASEKARA R.G.S it22292940" userId="S::it22292940@my.sliit.lk::2c5a25ee-9c35-49cb-92f3-85d27fcdb9b0" providerId="AD" clId="Web-{62BC440C-153B-798F-A3EF-4EE671F7ED27}" dt="2026-03-10T01:22:24.693" v="11"/>
          <ac:spMkLst>
            <pc:docMk/>
            <pc:sldMk cId="2107124545" sldId="310"/>
            <ac:spMk id="8" creationId="{42A4FC2C-047E-45A5-965D-8E1E3BF09BC6}"/>
          </ac:spMkLst>
        </pc:spChg>
        <pc:picChg chg="add del mod">
          <ac:chgData name="JAYASEKARA R.G.S it22292940" userId="S::it22292940@my.sliit.lk::2c5a25ee-9c35-49cb-92f3-85d27fcdb9b0" providerId="AD" clId="Web-{62BC440C-153B-798F-A3EF-4EE671F7ED27}" dt="2026-03-10T01:22:34.943" v="12"/>
          <ac:picMkLst>
            <pc:docMk/>
            <pc:sldMk cId="2107124545" sldId="310"/>
            <ac:picMk id="3" creationId="{AE04C235-82CE-5DFA-F88E-0180C07D68A3}"/>
          </ac:picMkLst>
        </pc:picChg>
        <pc:picChg chg="add del mod">
          <ac:chgData name="JAYASEKARA R.G.S it22292940" userId="S::it22292940@my.sliit.lk::2c5a25ee-9c35-49cb-92f3-85d27fcdb9b0" providerId="AD" clId="Web-{62BC440C-153B-798F-A3EF-4EE671F7ED27}" dt="2026-03-10T01:23:44.897" v="14"/>
          <ac:picMkLst>
            <pc:docMk/>
            <pc:sldMk cId="2107124545" sldId="310"/>
            <ac:picMk id="4" creationId="{1D98F240-9987-FB1E-090B-8E78D6298EF4}"/>
          </ac:picMkLst>
        </pc:picChg>
        <pc:picChg chg="add mod">
          <ac:chgData name="JAYASEKARA R.G.S it22292940" userId="S::it22292940@my.sliit.lk::2c5a25ee-9c35-49cb-92f3-85d27fcdb9b0" providerId="AD" clId="Web-{62BC440C-153B-798F-A3EF-4EE671F7ED27}" dt="2026-03-10T01:24:24.413" v="15"/>
          <ac:picMkLst>
            <pc:docMk/>
            <pc:sldMk cId="2107124545" sldId="310"/>
            <ac:picMk id="5" creationId="{D742ABEE-92FB-C70D-06E2-477ED16EFE47}"/>
          </ac:picMkLst>
        </pc:picChg>
      </pc:sldChg>
    </pc:docChg>
  </pc:docChgLst>
  <pc:docChgLst>
    <pc:chgData clId="Web-{62BC440C-153B-798F-A3EF-4EE671F7ED27}"/>
    <pc:docChg chg="addSld">
      <pc:chgData name="" userId="" providerId="" clId="Web-{62BC440C-153B-798F-A3EF-4EE671F7ED27}" dt="2026-03-10T02:24:36.143" v="0"/>
      <pc:docMkLst>
        <pc:docMk/>
      </pc:docMkLst>
      <pc:sldChg chg="new">
        <pc:chgData name="" userId="" providerId="" clId="Web-{62BC440C-153B-798F-A3EF-4EE671F7ED27}" dt="2026-03-10T02:24:36.143" v="0"/>
        <pc:sldMkLst>
          <pc:docMk/>
          <pc:sldMk cId="3762784463" sldId="3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i-L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072BE-2E8D-4D16-96EC-385FFE31C5C7}" type="datetimeFigureOut">
              <a:rPr lang="si-LK" smtClean="0"/>
              <a:t>2026-04-27</a:t>
            </a:fld>
            <a:endParaRPr lang="si-L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i-L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i-L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i-L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BD125-3627-43EF-87B6-CA74D292C868}" type="slidenum">
              <a:rPr lang="si-LK" smtClean="0"/>
              <a:t>‹#›</a:t>
            </a:fld>
            <a:endParaRPr lang="si-LK"/>
          </a:p>
        </p:txBody>
      </p:sp>
    </p:spTree>
    <p:extLst>
      <p:ext uri="{BB962C8B-B14F-4D97-AF65-F5344CB8AC3E}">
        <p14:creationId xmlns:p14="http://schemas.microsoft.com/office/powerpoint/2010/main" val="1791890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7027C4E-4182-4093-B222-1725524816DA}"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639B09-9316-4350-B758-27D128363008}"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3B309B-A6C4-487E-9679-0682EC2E232A}"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2A7D937-415C-4B4C-96C8-CDD5264476EB}" type="datetime1">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77534E-546E-45CE-9FE6-9CD487185BD0}" type="datetime1">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0F12C88-1186-419E-B0BA-FC2175AED086}" type="datetime1">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7F265-2E2E-423A-A3B2-389E1F297B76}" type="datetime1">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0F8A57-E439-4611-85B2-86432E213602}" type="datetime1">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3B8CE9-BD60-4F17-A42A-D6D0830011C3}" type="datetime1">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E811B2-1D1D-4173-B3A1-80098CCF70E8}"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10461-E7A9-4141-8666-6370B486348D}" type="datetime1">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F3DF2C-ABAE-4F40-9C53-78912FC69078}" type="datetime1">
              <a:rPr lang="en-US" smtClean="0"/>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0FDAA-BCCB-469A-4C6D-44621A68EBE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7EA932-C094-B2B6-A535-5C4D40026717}"/>
              </a:ext>
            </a:extLst>
          </p:cNvPr>
          <p:cNvGrpSpPr/>
          <p:nvPr/>
        </p:nvGrpSpPr>
        <p:grpSpPr>
          <a:xfrm>
            <a:off x="247242" y="113976"/>
            <a:ext cx="17793515" cy="9474901"/>
            <a:chOff x="0" y="-38100"/>
            <a:chExt cx="4982580" cy="2813272"/>
          </a:xfrm>
        </p:grpSpPr>
        <p:sp>
          <p:nvSpPr>
            <p:cNvPr id="3" name="Freeform 3">
              <a:extLst>
                <a:ext uri="{FF2B5EF4-FFF2-40B4-BE49-F238E27FC236}">
                  <a16:creationId xmlns:a16="http://schemas.microsoft.com/office/drawing/2014/main" id="{39C64D75-A7A0-9F56-D3BB-A75ED75CAA65}"/>
                </a:ext>
              </a:extLst>
            </p:cNvPr>
            <p:cNvSpPr/>
            <p:nvPr/>
          </p:nvSpPr>
          <p:spPr>
            <a:xfrm>
              <a:off x="0" y="0"/>
              <a:ext cx="4982580" cy="2775172"/>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ln w="28575">
                  <a:solidFill>
                    <a:schemeClr val="tx1"/>
                  </a:solidFill>
                </a:ln>
              </a:endParaRPr>
            </a:p>
          </p:txBody>
        </p:sp>
        <p:sp>
          <p:nvSpPr>
            <p:cNvPr id="4" name="TextBox 4">
              <a:extLst>
                <a:ext uri="{FF2B5EF4-FFF2-40B4-BE49-F238E27FC236}">
                  <a16:creationId xmlns:a16="http://schemas.microsoft.com/office/drawing/2014/main" id="{E36835B2-8A1A-FBFD-0653-CE9CAAB0526F}"/>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ln w="28575">
                  <a:solidFill>
                    <a:schemeClr val="tx1"/>
                  </a:solidFill>
                </a:ln>
              </a:endParaRPr>
            </a:p>
          </p:txBody>
        </p:sp>
      </p:grpSp>
      <p:sp>
        <p:nvSpPr>
          <p:cNvPr id="23" name="TextBox 23">
            <a:extLst>
              <a:ext uri="{FF2B5EF4-FFF2-40B4-BE49-F238E27FC236}">
                <a16:creationId xmlns:a16="http://schemas.microsoft.com/office/drawing/2014/main" id="{566FBDB9-32E1-1B5B-DA2A-849D4177B90D}"/>
              </a:ext>
            </a:extLst>
          </p:cNvPr>
          <p:cNvSpPr txBox="1"/>
          <p:nvPr/>
        </p:nvSpPr>
        <p:spPr>
          <a:xfrm>
            <a:off x="3056965" y="463604"/>
            <a:ext cx="12248221" cy="646331"/>
          </a:xfrm>
          <a:prstGeom prst="rect">
            <a:avLst/>
          </a:prstGeom>
        </p:spPr>
        <p:txBody>
          <a:bodyPr wrap="square" lIns="0" tIns="0" rIns="0" bIns="0" rtlCol="0" anchor="t">
            <a:spAutoFit/>
          </a:bodyPr>
          <a:lstStyle/>
          <a:p>
            <a:pPr algn="ctr"/>
            <a:r>
              <a:rPr lang="en-US" sz="4200">
                <a:solidFill>
                  <a:schemeClr val="accent1"/>
                </a:solidFill>
                <a:latin typeface="Poppins" panose="00000500000000000000" pitchFamily="2" charset="0"/>
                <a:cs typeface="Poppins" panose="00000500000000000000" pitchFamily="2" charset="0"/>
              </a:rPr>
              <a:t>Problem Statement &amp; Stakeholders</a:t>
            </a:r>
            <a:endParaRPr lang="en-US" sz="4200" spc="-35">
              <a:solidFill>
                <a:schemeClr val="accent1"/>
              </a:solidFill>
              <a:latin typeface="Poppins" panose="00000500000000000000" pitchFamily="2" charset="0"/>
              <a:ea typeface="Poppins"/>
              <a:cs typeface="Poppins" panose="00000500000000000000" pitchFamily="2" charset="0"/>
              <a:sym typeface="Poppins"/>
            </a:endParaRPr>
          </a:p>
        </p:txBody>
      </p:sp>
      <p:pic>
        <p:nvPicPr>
          <p:cNvPr id="41" name="object 3">
            <a:extLst>
              <a:ext uri="{FF2B5EF4-FFF2-40B4-BE49-F238E27FC236}">
                <a16:creationId xmlns:a16="http://schemas.microsoft.com/office/drawing/2014/main" id="{9C8165B5-2847-2A6A-7194-2E5FDF715577}"/>
              </a:ext>
            </a:extLst>
          </p:cNvPr>
          <p:cNvPicPr/>
          <p:nvPr/>
        </p:nvPicPr>
        <p:blipFill>
          <a:blip r:embed="rId2" cstate="print"/>
          <a:stretch>
            <a:fillRect/>
          </a:stretch>
        </p:blipFill>
        <p:spPr>
          <a:xfrm>
            <a:off x="0" y="9640732"/>
            <a:ext cx="3246120" cy="684368"/>
          </a:xfrm>
          <a:prstGeom prst="rect">
            <a:avLst/>
          </a:prstGeom>
        </p:spPr>
      </p:pic>
      <p:sp>
        <p:nvSpPr>
          <p:cNvPr id="42" name="object 4">
            <a:extLst>
              <a:ext uri="{FF2B5EF4-FFF2-40B4-BE49-F238E27FC236}">
                <a16:creationId xmlns:a16="http://schemas.microsoft.com/office/drawing/2014/main" id="{0BA3820A-75A7-0415-ABDD-23AAFCB80983}"/>
              </a:ext>
            </a:extLst>
          </p:cNvPr>
          <p:cNvSpPr txBox="1"/>
          <p:nvPr/>
        </p:nvSpPr>
        <p:spPr>
          <a:xfrm>
            <a:off x="14412362" y="97046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0/2026</a:t>
            </a:r>
            <a:endParaRPr sz="2800">
              <a:latin typeface="Cambria"/>
              <a:cs typeface="Cambria"/>
            </a:endParaRPr>
          </a:p>
        </p:txBody>
      </p:sp>
      <p:sp>
        <p:nvSpPr>
          <p:cNvPr id="43" name="Slide Number Placeholder 35">
            <a:extLst>
              <a:ext uri="{FF2B5EF4-FFF2-40B4-BE49-F238E27FC236}">
                <a16:creationId xmlns:a16="http://schemas.microsoft.com/office/drawing/2014/main" id="{2E4B5E4C-A89E-2180-F060-2DD442380B37}"/>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1</a:t>
            </a:fld>
            <a:endParaRPr lang="en-US" sz="2800" b="1">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20C47B09-4242-D48B-23CD-8731B8DBCAFD}"/>
              </a:ext>
            </a:extLst>
          </p:cNvPr>
          <p:cNvSpPr txBox="1"/>
          <p:nvPr/>
        </p:nvSpPr>
        <p:spPr>
          <a:xfrm>
            <a:off x="951945" y="1579066"/>
            <a:ext cx="16171575" cy="1148007"/>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Urban waste management in public areas specially like </a:t>
            </a:r>
            <a:r>
              <a:rPr lang="en-US" sz="2400" b="1">
                <a:latin typeface="Poppins" panose="00000500000000000000" pitchFamily="2" charset="0"/>
                <a:cs typeface="Poppins" panose="00000500000000000000" pitchFamily="2" charset="0"/>
              </a:rPr>
              <a:t>railway stations </a:t>
            </a:r>
            <a:r>
              <a:rPr lang="en-US" sz="2400">
                <a:latin typeface="Poppins" panose="00000500000000000000" pitchFamily="2" charset="0"/>
                <a:cs typeface="Poppins" panose="00000500000000000000" pitchFamily="2" charset="0"/>
              </a:rPr>
              <a:t>requires efficient and automated waste collection systems.</a:t>
            </a:r>
          </a:p>
        </p:txBody>
      </p:sp>
      <p:sp>
        <p:nvSpPr>
          <p:cNvPr id="8" name="TextBox 7">
            <a:extLst>
              <a:ext uri="{FF2B5EF4-FFF2-40B4-BE49-F238E27FC236}">
                <a16:creationId xmlns:a16="http://schemas.microsoft.com/office/drawing/2014/main" id="{7F7AE053-348C-436B-5880-13DB6C839D68}"/>
              </a:ext>
            </a:extLst>
          </p:cNvPr>
          <p:cNvSpPr txBox="1"/>
          <p:nvPr/>
        </p:nvSpPr>
        <p:spPr>
          <a:xfrm>
            <a:off x="951946" y="3432674"/>
            <a:ext cx="16340974" cy="1702004"/>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Primary Users: Waste management workers / cleaning staff</a:t>
            </a:r>
          </a:p>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Secondary Users: Public users of the area (students, visitors, residents)</a:t>
            </a:r>
          </a:p>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Decision Makers: Municipal authorities / facility management</a:t>
            </a:r>
          </a:p>
        </p:txBody>
      </p:sp>
      <p:sp>
        <p:nvSpPr>
          <p:cNvPr id="10" name="TextBox 9">
            <a:extLst>
              <a:ext uri="{FF2B5EF4-FFF2-40B4-BE49-F238E27FC236}">
                <a16:creationId xmlns:a16="http://schemas.microsoft.com/office/drawing/2014/main" id="{391AAD34-8A5C-77A4-776C-1D96AD31AC14}"/>
              </a:ext>
            </a:extLst>
          </p:cNvPr>
          <p:cNvSpPr txBox="1"/>
          <p:nvPr/>
        </p:nvSpPr>
        <p:spPr>
          <a:xfrm>
            <a:off x="951945" y="2796673"/>
            <a:ext cx="9211454" cy="718017"/>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Stakeholders</a:t>
            </a:r>
            <a:r>
              <a:rPr lang="en-US" sz="3000"/>
              <a:t> </a:t>
            </a:r>
            <a:r>
              <a:rPr lang="en-US" sz="3000" b="1">
                <a:solidFill>
                  <a:schemeClr val="accent1">
                    <a:lumMod val="75000"/>
                  </a:schemeClr>
                </a:solidFill>
                <a:latin typeface="Poppins" panose="00000500000000000000" pitchFamily="2" charset="0"/>
                <a:cs typeface="Poppins" panose="00000500000000000000" pitchFamily="2" charset="0"/>
              </a:rPr>
              <a:t>:</a:t>
            </a:r>
          </a:p>
        </p:txBody>
      </p:sp>
      <p:sp>
        <p:nvSpPr>
          <p:cNvPr id="12" name="TextBox 11">
            <a:extLst>
              <a:ext uri="{FF2B5EF4-FFF2-40B4-BE49-F238E27FC236}">
                <a16:creationId xmlns:a16="http://schemas.microsoft.com/office/drawing/2014/main" id="{315EF019-70F3-74F2-56E8-2154D7E8EA09}"/>
              </a:ext>
            </a:extLst>
          </p:cNvPr>
          <p:cNvSpPr txBox="1"/>
          <p:nvPr/>
        </p:nvSpPr>
        <p:spPr>
          <a:xfrm>
            <a:off x="951945" y="961952"/>
            <a:ext cx="9211454" cy="718017"/>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Context</a:t>
            </a:r>
            <a:r>
              <a:rPr lang="en-US" sz="3000"/>
              <a:t> </a:t>
            </a:r>
            <a:r>
              <a:rPr lang="en-US" sz="3000" b="1">
                <a:solidFill>
                  <a:schemeClr val="accent1">
                    <a:lumMod val="75000"/>
                  </a:schemeClr>
                </a:solidFill>
                <a:latin typeface="Poppins"/>
                <a:cs typeface="Poppins"/>
              </a:rPr>
              <a:t>:</a:t>
            </a:r>
          </a:p>
        </p:txBody>
      </p:sp>
      <p:sp>
        <p:nvSpPr>
          <p:cNvPr id="16" name="TextBox 15">
            <a:extLst>
              <a:ext uri="{FF2B5EF4-FFF2-40B4-BE49-F238E27FC236}">
                <a16:creationId xmlns:a16="http://schemas.microsoft.com/office/drawing/2014/main" id="{73E79363-56D7-C6C8-0545-9455227400FB}"/>
              </a:ext>
            </a:extLst>
          </p:cNvPr>
          <p:cNvSpPr txBox="1"/>
          <p:nvPr/>
        </p:nvSpPr>
        <p:spPr>
          <a:xfrm>
            <a:off x="956428" y="5886601"/>
            <a:ext cx="16524749" cy="1148007"/>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Manual waste collection is </a:t>
            </a:r>
            <a:r>
              <a:rPr lang="en-US" sz="2400" b="1">
                <a:latin typeface="Poppins" panose="00000500000000000000" pitchFamily="2" charset="0"/>
                <a:cs typeface="Poppins" panose="00000500000000000000" pitchFamily="2" charset="0"/>
              </a:rPr>
              <a:t>time-consuming, inefficient, and inconsistent</a:t>
            </a:r>
            <a:r>
              <a:rPr lang="en-US" sz="2400">
                <a:latin typeface="Poppins" panose="00000500000000000000" pitchFamily="2" charset="0"/>
                <a:cs typeface="Poppins" panose="00000500000000000000" pitchFamily="2" charset="0"/>
              </a:rPr>
              <a:t>, often leading to </a:t>
            </a:r>
            <a:r>
              <a:rPr lang="en-US" sz="2400" b="1">
                <a:latin typeface="Poppins" panose="00000500000000000000" pitchFamily="2" charset="0"/>
                <a:cs typeface="Poppins" panose="00000500000000000000" pitchFamily="2" charset="0"/>
              </a:rPr>
              <a:t>overflowing bins and delayed waste disposal</a:t>
            </a:r>
            <a:r>
              <a:rPr lang="en-US" sz="2400">
                <a:latin typeface="Poppins" panose="00000500000000000000" pitchFamily="2" charset="0"/>
                <a:cs typeface="Poppins" panose="00000500000000000000" pitchFamily="2" charset="0"/>
              </a:rPr>
              <a:t>.</a:t>
            </a:r>
          </a:p>
        </p:txBody>
      </p:sp>
      <p:sp>
        <p:nvSpPr>
          <p:cNvPr id="17" name="TextBox 16">
            <a:extLst>
              <a:ext uri="{FF2B5EF4-FFF2-40B4-BE49-F238E27FC236}">
                <a16:creationId xmlns:a16="http://schemas.microsoft.com/office/drawing/2014/main" id="{C52CAE07-BE21-23B9-CDDF-65FB37C37209}"/>
              </a:ext>
            </a:extLst>
          </p:cNvPr>
          <p:cNvSpPr txBox="1"/>
          <p:nvPr/>
        </p:nvSpPr>
        <p:spPr>
          <a:xfrm>
            <a:off x="956429" y="7767103"/>
            <a:ext cx="16340974" cy="1702004"/>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Increases labor time and operational cost</a:t>
            </a:r>
          </a:p>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Causes unhygienic environments and bad odors</a:t>
            </a:r>
          </a:p>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Leads to inefficient waste management and delayed disposal</a:t>
            </a:r>
          </a:p>
        </p:txBody>
      </p:sp>
      <p:sp>
        <p:nvSpPr>
          <p:cNvPr id="18" name="TextBox 17">
            <a:extLst>
              <a:ext uri="{FF2B5EF4-FFF2-40B4-BE49-F238E27FC236}">
                <a16:creationId xmlns:a16="http://schemas.microsoft.com/office/drawing/2014/main" id="{1B87D9B4-B1DD-FC41-461C-6C58E1DDF648}"/>
              </a:ext>
            </a:extLst>
          </p:cNvPr>
          <p:cNvSpPr txBox="1"/>
          <p:nvPr/>
        </p:nvSpPr>
        <p:spPr>
          <a:xfrm>
            <a:off x="956428" y="7104208"/>
            <a:ext cx="9211454"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Why It Matters :</a:t>
            </a:r>
          </a:p>
        </p:txBody>
      </p:sp>
      <p:sp>
        <p:nvSpPr>
          <p:cNvPr id="19" name="TextBox 18">
            <a:extLst>
              <a:ext uri="{FF2B5EF4-FFF2-40B4-BE49-F238E27FC236}">
                <a16:creationId xmlns:a16="http://schemas.microsoft.com/office/drawing/2014/main" id="{34D82B14-7647-17D2-F098-2CDABC23529E}"/>
              </a:ext>
            </a:extLst>
          </p:cNvPr>
          <p:cNvSpPr txBox="1"/>
          <p:nvPr/>
        </p:nvSpPr>
        <p:spPr>
          <a:xfrm>
            <a:off x="956428" y="5229146"/>
            <a:ext cx="9211454"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Observed Issue </a:t>
            </a:r>
            <a:r>
              <a:rPr lang="en-US" sz="3000" b="1">
                <a:solidFill>
                  <a:schemeClr val="accent1">
                    <a:lumMod val="75000"/>
                  </a:schemeClr>
                </a:solidFill>
                <a:latin typeface="Poppins"/>
                <a:cs typeface="Poppins"/>
              </a:rPr>
              <a:t>:</a:t>
            </a:r>
          </a:p>
        </p:txBody>
      </p:sp>
    </p:spTree>
    <p:extLst>
      <p:ext uri="{BB962C8B-B14F-4D97-AF65-F5344CB8AC3E}">
        <p14:creationId xmlns:p14="http://schemas.microsoft.com/office/powerpoint/2010/main" val="482702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BF72F260-9A2C-963A-69FD-F5C6719A4546}"/>
              </a:ext>
            </a:extLst>
          </p:cNvPr>
          <p:cNvGrpSpPr/>
          <p:nvPr/>
        </p:nvGrpSpPr>
        <p:grpSpPr>
          <a:xfrm>
            <a:off x="247242" y="113976"/>
            <a:ext cx="17793515" cy="9474899"/>
            <a:chOff x="0" y="-38100"/>
            <a:chExt cx="4982580" cy="2782993"/>
          </a:xfrm>
        </p:grpSpPr>
        <p:sp>
          <p:nvSpPr>
            <p:cNvPr id="3" name="Freeform 3">
              <a:extLst>
                <a:ext uri="{FF2B5EF4-FFF2-40B4-BE49-F238E27FC236}">
                  <a16:creationId xmlns:a16="http://schemas.microsoft.com/office/drawing/2014/main" id="{27CB9E7C-A9B2-6773-3792-BD525126B3C5}"/>
                </a:ext>
              </a:extLst>
            </p:cNvPr>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p>
          </p:txBody>
        </p:sp>
        <p:sp>
          <p:nvSpPr>
            <p:cNvPr id="4" name="TextBox 4">
              <a:extLst>
                <a:ext uri="{FF2B5EF4-FFF2-40B4-BE49-F238E27FC236}">
                  <a16:creationId xmlns:a16="http://schemas.microsoft.com/office/drawing/2014/main" id="{D7235627-0BBB-A901-F24A-C7A6B86D2D9E}"/>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23">
            <a:extLst>
              <a:ext uri="{FF2B5EF4-FFF2-40B4-BE49-F238E27FC236}">
                <a16:creationId xmlns:a16="http://schemas.microsoft.com/office/drawing/2014/main" id="{8A660F5F-8C8C-E706-73CD-4CA331111188}"/>
              </a:ext>
            </a:extLst>
          </p:cNvPr>
          <p:cNvSpPr txBox="1"/>
          <p:nvPr/>
        </p:nvSpPr>
        <p:spPr>
          <a:xfrm>
            <a:off x="2346404" y="621126"/>
            <a:ext cx="13706221" cy="738664"/>
          </a:xfrm>
          <a:prstGeom prst="rect">
            <a:avLst/>
          </a:prstGeom>
        </p:spPr>
        <p:txBody>
          <a:bodyPr wrap="square" lIns="0" tIns="0" rIns="0" bIns="0" rtlCol="0" anchor="t">
            <a:spAutoFit/>
          </a:bodyPr>
          <a:lstStyle/>
          <a:p>
            <a:pPr algn="ctr"/>
            <a:r>
              <a:rPr lang="en-US" sz="4800">
                <a:solidFill>
                  <a:schemeClr val="accent1"/>
                </a:solidFill>
                <a:latin typeface="Poppins" panose="00000500000000000000" pitchFamily="2" charset="0"/>
                <a:cs typeface="Poppins" panose="00000500000000000000" pitchFamily="2" charset="0"/>
              </a:rPr>
              <a:t>Research Gap &amp; Objectives </a:t>
            </a:r>
            <a:endParaRPr lang="en-US" sz="4800" spc="-35">
              <a:solidFill>
                <a:schemeClr val="accent1"/>
              </a:solidFill>
              <a:latin typeface="Poppins" panose="00000500000000000000" pitchFamily="2" charset="0"/>
              <a:ea typeface="Poppins"/>
              <a:cs typeface="Poppins" panose="00000500000000000000" pitchFamily="2" charset="0"/>
              <a:sym typeface="Poppins"/>
            </a:endParaRPr>
          </a:p>
        </p:txBody>
      </p:sp>
      <p:sp>
        <p:nvSpPr>
          <p:cNvPr id="14" name="Slide Number Placeholder 35">
            <a:extLst>
              <a:ext uri="{FF2B5EF4-FFF2-40B4-BE49-F238E27FC236}">
                <a16:creationId xmlns:a16="http://schemas.microsoft.com/office/drawing/2014/main" id="{57029C0D-1A6E-8109-AF62-D0A45E467FC7}"/>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2</a:t>
            </a:fld>
            <a:endParaRPr lang="en-US" sz="2800" b="1">
              <a:solidFill>
                <a:schemeClr val="tx1"/>
              </a:solidFill>
              <a:latin typeface="Cambria" panose="02040503050406030204" pitchFamily="18" charset="0"/>
              <a:ea typeface="Cambria" panose="02040503050406030204" pitchFamily="18" charset="0"/>
            </a:endParaRPr>
          </a:p>
        </p:txBody>
      </p:sp>
      <p:sp>
        <p:nvSpPr>
          <p:cNvPr id="22" name="TextBox 21">
            <a:extLst>
              <a:ext uri="{FF2B5EF4-FFF2-40B4-BE49-F238E27FC236}">
                <a16:creationId xmlns:a16="http://schemas.microsoft.com/office/drawing/2014/main" id="{83FA71B9-62DC-00BA-C74C-D96BB9439431}"/>
              </a:ext>
            </a:extLst>
          </p:cNvPr>
          <p:cNvSpPr txBox="1"/>
          <p:nvPr/>
        </p:nvSpPr>
        <p:spPr>
          <a:xfrm>
            <a:off x="1310461" y="2378352"/>
            <a:ext cx="16171575" cy="2562753"/>
          </a:xfrm>
          <a:prstGeom prst="rect">
            <a:avLst/>
          </a:prstGeom>
          <a:noFill/>
        </p:spPr>
        <p:txBody>
          <a:bodyPr wrap="square" lIns="91440" tIns="45720" rIns="91440" bIns="45720" anchor="t">
            <a:spAutoFit/>
          </a:bodyPr>
          <a:lstStyle/>
          <a:p>
            <a:pPr marL="457200" indent="-457200">
              <a:lnSpc>
                <a:spcPct val="200000"/>
              </a:lnSpc>
              <a:buFont typeface="Wingdings" panose="05000000000000000000" pitchFamily="2" charset="2"/>
              <a:buChar char="q"/>
            </a:pPr>
            <a:r>
              <a:rPr lang="en-US" sz="2800">
                <a:latin typeface="Poppins" panose="00000500000000000000" pitchFamily="2" charset="0"/>
                <a:cs typeface="Poppins" panose="00000500000000000000" pitchFamily="2" charset="0"/>
              </a:rPr>
              <a:t>Existing waste collection robots lack an integrated system that combines </a:t>
            </a:r>
            <a:r>
              <a:rPr lang="en-US" sz="2800" b="1">
                <a:latin typeface="Poppins" panose="00000500000000000000" pitchFamily="2" charset="0"/>
                <a:cs typeface="Poppins" panose="00000500000000000000" pitchFamily="2" charset="0"/>
              </a:rPr>
              <a:t>safe navigation, intelligent unloading, and real-time bin-level monitoring</a:t>
            </a:r>
            <a:r>
              <a:rPr lang="en-US" sz="2800">
                <a:latin typeface="Poppins" panose="00000500000000000000" pitchFamily="2" charset="0"/>
                <a:cs typeface="Poppins" panose="00000500000000000000" pitchFamily="2" charset="0"/>
              </a:rPr>
              <a:t> in dynamic environments like railway stations.</a:t>
            </a:r>
            <a:endParaRPr lang="en-US" sz="2900">
              <a:latin typeface="Poppins" panose="00000500000000000000" pitchFamily="2" charset="0"/>
              <a:cs typeface="Poppins" panose="00000500000000000000" pitchFamily="2" charset="0"/>
            </a:endParaRPr>
          </a:p>
        </p:txBody>
      </p:sp>
      <p:sp>
        <p:nvSpPr>
          <p:cNvPr id="24" name="TextBox 23">
            <a:extLst>
              <a:ext uri="{FF2B5EF4-FFF2-40B4-BE49-F238E27FC236}">
                <a16:creationId xmlns:a16="http://schemas.microsoft.com/office/drawing/2014/main" id="{C9E5015F-5B7D-87C2-AEA8-A8FB50EDA684}"/>
              </a:ext>
            </a:extLst>
          </p:cNvPr>
          <p:cNvSpPr txBox="1"/>
          <p:nvPr/>
        </p:nvSpPr>
        <p:spPr>
          <a:xfrm>
            <a:off x="1310462" y="6060987"/>
            <a:ext cx="16453104" cy="2562753"/>
          </a:xfrm>
          <a:prstGeom prst="rect">
            <a:avLst/>
          </a:prstGeom>
          <a:noFill/>
        </p:spPr>
        <p:txBody>
          <a:bodyPr wrap="square" lIns="91440" tIns="45720" rIns="91440" bIns="45720" anchor="t">
            <a:spAutoFit/>
          </a:bodyPr>
          <a:lstStyle/>
          <a:p>
            <a:pPr marL="457200" indent="-457200">
              <a:lnSpc>
                <a:spcPct val="200000"/>
              </a:lnSpc>
              <a:buFont typeface="Wingdings" panose="05000000000000000000" pitchFamily="2" charset="2"/>
              <a:buChar char="q"/>
            </a:pPr>
            <a:r>
              <a:rPr lang="en-US" sz="2800">
                <a:latin typeface="Poppins" panose="00000500000000000000" pitchFamily="2" charset="0"/>
                <a:cs typeface="Poppins" panose="00000500000000000000" pitchFamily="2" charset="0"/>
              </a:rPr>
              <a:t>Develop a </a:t>
            </a:r>
            <a:r>
              <a:rPr lang="en-US" sz="2800" b="1">
                <a:latin typeface="Poppins" panose="00000500000000000000" pitchFamily="2" charset="0"/>
                <a:cs typeface="Poppins" panose="00000500000000000000" pitchFamily="2" charset="0"/>
              </a:rPr>
              <a:t>cloud-integrated autonomous waste management system</a:t>
            </a:r>
            <a:r>
              <a:rPr lang="en-US" sz="2800">
                <a:latin typeface="Poppins" panose="00000500000000000000" pitchFamily="2" charset="0"/>
                <a:cs typeface="Poppins" panose="00000500000000000000" pitchFamily="2" charset="0"/>
              </a:rPr>
              <a:t> using IoT and machine learning to </a:t>
            </a:r>
            <a:r>
              <a:rPr lang="en-US" sz="2800" b="1">
                <a:latin typeface="Poppins" panose="00000500000000000000" pitchFamily="2" charset="0"/>
                <a:cs typeface="Poppins" panose="00000500000000000000" pitchFamily="2" charset="0"/>
              </a:rPr>
              <a:t>detect, collect, classify, and unload waste efficiently while enabling real-time monitoring of disposal bins.</a:t>
            </a:r>
            <a:endParaRPr lang="en-US" sz="2600">
              <a:latin typeface="Poppins" panose="00000500000000000000" pitchFamily="2" charset="0"/>
              <a:ea typeface="+mn-lt"/>
              <a:cs typeface="Poppins" panose="00000500000000000000" pitchFamily="2" charset="0"/>
            </a:endParaRPr>
          </a:p>
        </p:txBody>
      </p:sp>
      <p:sp>
        <p:nvSpPr>
          <p:cNvPr id="26" name="TextBox 25">
            <a:extLst>
              <a:ext uri="{FF2B5EF4-FFF2-40B4-BE49-F238E27FC236}">
                <a16:creationId xmlns:a16="http://schemas.microsoft.com/office/drawing/2014/main" id="{92DF5004-F63A-05A0-97BE-FA5FBF139C55}"/>
              </a:ext>
            </a:extLst>
          </p:cNvPr>
          <p:cNvSpPr txBox="1"/>
          <p:nvPr/>
        </p:nvSpPr>
        <p:spPr>
          <a:xfrm>
            <a:off x="1266334" y="5235513"/>
            <a:ext cx="9211454" cy="837473"/>
          </a:xfrm>
          <a:prstGeom prst="rect">
            <a:avLst/>
          </a:prstGeom>
          <a:noFill/>
        </p:spPr>
        <p:txBody>
          <a:bodyPr wrap="square">
            <a:spAutoFit/>
          </a:bodyPr>
          <a:lstStyle/>
          <a:p>
            <a:pPr>
              <a:lnSpc>
                <a:spcPct val="150000"/>
              </a:lnSpc>
              <a:buNone/>
            </a:pPr>
            <a:r>
              <a:rPr lang="en-US" sz="3600" b="1">
                <a:solidFill>
                  <a:schemeClr val="accent1">
                    <a:lumMod val="75000"/>
                  </a:schemeClr>
                </a:solidFill>
                <a:latin typeface="Poppins" panose="00000500000000000000" pitchFamily="2" charset="0"/>
                <a:cs typeface="Poppins" panose="00000500000000000000" pitchFamily="2" charset="0"/>
              </a:rPr>
              <a:t>Main Objective :</a:t>
            </a:r>
            <a:endParaRPr lang="en-US" sz="3600">
              <a:solidFill>
                <a:schemeClr val="accent1">
                  <a:lumMod val="75000"/>
                </a:schemeClr>
              </a:solidFill>
              <a:latin typeface="Poppins" panose="00000500000000000000" pitchFamily="2" charset="0"/>
              <a:cs typeface="Poppins" panose="00000500000000000000" pitchFamily="2" charset="0"/>
            </a:endParaRPr>
          </a:p>
        </p:txBody>
      </p:sp>
      <p:sp>
        <p:nvSpPr>
          <p:cNvPr id="28" name="TextBox 27">
            <a:extLst>
              <a:ext uri="{FF2B5EF4-FFF2-40B4-BE49-F238E27FC236}">
                <a16:creationId xmlns:a16="http://schemas.microsoft.com/office/drawing/2014/main" id="{1D96D00D-F495-A75E-78E1-9BC13ACFB8CE}"/>
              </a:ext>
            </a:extLst>
          </p:cNvPr>
          <p:cNvSpPr txBox="1"/>
          <p:nvPr/>
        </p:nvSpPr>
        <p:spPr>
          <a:xfrm>
            <a:off x="1353631" y="1645894"/>
            <a:ext cx="9211454" cy="843180"/>
          </a:xfrm>
          <a:prstGeom prst="rect">
            <a:avLst/>
          </a:prstGeom>
          <a:noFill/>
        </p:spPr>
        <p:txBody>
          <a:bodyPr wrap="square">
            <a:spAutoFit/>
          </a:bodyPr>
          <a:lstStyle/>
          <a:p>
            <a:pPr>
              <a:lnSpc>
                <a:spcPct val="150000"/>
              </a:lnSpc>
              <a:buNone/>
            </a:pPr>
            <a:r>
              <a:rPr lang="en-US" sz="3600" b="1">
                <a:solidFill>
                  <a:schemeClr val="accent1">
                    <a:lumMod val="75000"/>
                  </a:schemeClr>
                </a:solidFill>
                <a:latin typeface="Poppins" panose="00000500000000000000" pitchFamily="2" charset="0"/>
                <a:cs typeface="Poppins" panose="00000500000000000000" pitchFamily="2" charset="0"/>
              </a:rPr>
              <a:t>Research Gap :</a:t>
            </a:r>
          </a:p>
        </p:txBody>
      </p:sp>
      <p:pic>
        <p:nvPicPr>
          <p:cNvPr id="30" name="object 3" descr="A close up of a sign&#10;&#10;AI-generated content may be incorrect.">
            <a:extLst>
              <a:ext uri="{FF2B5EF4-FFF2-40B4-BE49-F238E27FC236}">
                <a16:creationId xmlns:a16="http://schemas.microsoft.com/office/drawing/2014/main" id="{BCDA9918-155E-A9DB-F24C-84E22436BE2D}"/>
              </a:ext>
            </a:extLst>
          </p:cNvPr>
          <p:cNvPicPr/>
          <p:nvPr/>
        </p:nvPicPr>
        <p:blipFill>
          <a:blip r:embed="rId2" cstate="print"/>
          <a:stretch>
            <a:fillRect/>
          </a:stretch>
        </p:blipFill>
        <p:spPr>
          <a:xfrm>
            <a:off x="-600" y="9622132"/>
            <a:ext cx="3246120" cy="684368"/>
          </a:xfrm>
          <a:prstGeom prst="rect">
            <a:avLst/>
          </a:prstGeom>
        </p:spPr>
      </p:pic>
      <p:sp>
        <p:nvSpPr>
          <p:cNvPr id="32" name="object 4">
            <a:extLst>
              <a:ext uri="{FF2B5EF4-FFF2-40B4-BE49-F238E27FC236}">
                <a16:creationId xmlns:a16="http://schemas.microsoft.com/office/drawing/2014/main" id="{BC3A3970-70C9-D67C-24CF-A62A69714C92}"/>
              </a:ext>
            </a:extLst>
          </p:cNvPr>
          <p:cNvSpPr txBox="1"/>
          <p:nvPr/>
        </p:nvSpPr>
        <p:spPr>
          <a:xfrm>
            <a:off x="14411762" y="96860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a:t>
            </a:r>
            <a:r>
              <a:rPr sz="2800" b="1" spc="-10">
                <a:latin typeface="Cambria"/>
                <a:cs typeface="Cambria"/>
              </a:rPr>
              <a:t>/202</a:t>
            </a:r>
            <a:r>
              <a:rPr lang="en-US" sz="2800" b="1" spc="-10">
                <a:latin typeface="Cambria"/>
                <a:cs typeface="Cambria"/>
              </a:rPr>
              <a:t>6</a:t>
            </a:r>
            <a:endParaRPr sz="2800">
              <a:latin typeface="Cambria"/>
              <a:cs typeface="Cambria"/>
            </a:endParaRPr>
          </a:p>
        </p:txBody>
      </p:sp>
    </p:spTree>
    <p:extLst>
      <p:ext uri="{BB962C8B-B14F-4D97-AF65-F5344CB8AC3E}">
        <p14:creationId xmlns:p14="http://schemas.microsoft.com/office/powerpoint/2010/main" val="231988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
            <a:extLst>
              <a:ext uri="{FF2B5EF4-FFF2-40B4-BE49-F238E27FC236}">
                <a16:creationId xmlns:a16="http://schemas.microsoft.com/office/drawing/2014/main" id="{DC274C5B-DA43-64EC-6B9D-14977F22B1BA}"/>
              </a:ext>
            </a:extLst>
          </p:cNvPr>
          <p:cNvGrpSpPr/>
          <p:nvPr/>
        </p:nvGrpSpPr>
        <p:grpSpPr>
          <a:xfrm>
            <a:off x="247242" y="113976"/>
            <a:ext cx="17793515" cy="9474899"/>
            <a:chOff x="0" y="-38100"/>
            <a:chExt cx="4982580" cy="2782993"/>
          </a:xfrm>
        </p:grpSpPr>
        <p:sp>
          <p:nvSpPr>
            <p:cNvPr id="3" name="Freeform 3">
              <a:extLst>
                <a:ext uri="{FF2B5EF4-FFF2-40B4-BE49-F238E27FC236}">
                  <a16:creationId xmlns:a16="http://schemas.microsoft.com/office/drawing/2014/main" id="{41C6E79C-4A55-864B-AC7F-DD0A389CFD27}"/>
                </a:ext>
              </a:extLst>
            </p:cNvPr>
            <p:cNvSpPr/>
            <p:nvPr/>
          </p:nvSpPr>
          <p:spPr>
            <a:xfrm>
              <a:off x="0" y="0"/>
              <a:ext cx="4982580" cy="2744893"/>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p>
          </p:txBody>
        </p:sp>
        <p:sp>
          <p:nvSpPr>
            <p:cNvPr id="4" name="TextBox 4">
              <a:extLst>
                <a:ext uri="{FF2B5EF4-FFF2-40B4-BE49-F238E27FC236}">
                  <a16:creationId xmlns:a16="http://schemas.microsoft.com/office/drawing/2014/main" id="{22C902EB-9E1C-94C0-85E8-2ED250A5B2DE}"/>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23">
            <a:extLst>
              <a:ext uri="{FF2B5EF4-FFF2-40B4-BE49-F238E27FC236}">
                <a16:creationId xmlns:a16="http://schemas.microsoft.com/office/drawing/2014/main" id="{3909D161-FFEB-B574-11E8-DB153E0B6282}"/>
              </a:ext>
            </a:extLst>
          </p:cNvPr>
          <p:cNvSpPr txBox="1"/>
          <p:nvPr/>
        </p:nvSpPr>
        <p:spPr>
          <a:xfrm>
            <a:off x="2436170" y="507643"/>
            <a:ext cx="13382221" cy="677108"/>
          </a:xfrm>
          <a:prstGeom prst="rect">
            <a:avLst/>
          </a:prstGeom>
        </p:spPr>
        <p:txBody>
          <a:bodyPr wrap="square" lIns="0" tIns="0" rIns="0" bIns="0" rtlCol="0" anchor="t">
            <a:spAutoFit/>
          </a:bodyPr>
          <a:lstStyle/>
          <a:p>
            <a:pPr algn="ctr"/>
            <a:r>
              <a:rPr lang="en-US" sz="4400" spc="-35">
                <a:solidFill>
                  <a:schemeClr val="accent1"/>
                </a:solidFill>
                <a:latin typeface="Poppins"/>
                <a:ea typeface="Poppins"/>
                <a:cs typeface="Poppins"/>
                <a:sym typeface="Poppins"/>
              </a:rPr>
              <a:t>Solution Overview</a:t>
            </a:r>
          </a:p>
        </p:txBody>
      </p:sp>
      <p:pic>
        <p:nvPicPr>
          <p:cNvPr id="10" name="object 3" descr="A close up of a sign&#10;&#10;AI-generated content may be incorrect.">
            <a:extLst>
              <a:ext uri="{FF2B5EF4-FFF2-40B4-BE49-F238E27FC236}">
                <a16:creationId xmlns:a16="http://schemas.microsoft.com/office/drawing/2014/main" id="{A978BDCD-EC74-15E7-FDDA-A451089D0E86}"/>
              </a:ext>
            </a:extLst>
          </p:cNvPr>
          <p:cNvPicPr/>
          <p:nvPr/>
        </p:nvPicPr>
        <p:blipFill>
          <a:blip r:embed="rId2" cstate="print"/>
          <a:stretch>
            <a:fillRect/>
          </a:stretch>
        </p:blipFill>
        <p:spPr>
          <a:xfrm>
            <a:off x="0" y="9640732"/>
            <a:ext cx="3246120" cy="684368"/>
          </a:xfrm>
          <a:prstGeom prst="rect">
            <a:avLst/>
          </a:prstGeom>
        </p:spPr>
      </p:pic>
      <p:sp>
        <p:nvSpPr>
          <p:cNvPr id="12" name="object 4">
            <a:extLst>
              <a:ext uri="{FF2B5EF4-FFF2-40B4-BE49-F238E27FC236}">
                <a16:creationId xmlns:a16="http://schemas.microsoft.com/office/drawing/2014/main" id="{66B55CE9-02BF-076E-35E4-8208F43C5B85}"/>
              </a:ext>
            </a:extLst>
          </p:cNvPr>
          <p:cNvSpPr txBox="1"/>
          <p:nvPr/>
        </p:nvSpPr>
        <p:spPr>
          <a:xfrm>
            <a:off x="14412362" y="97046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a:t>
            </a:r>
            <a:r>
              <a:rPr sz="2800" b="1" spc="-10">
                <a:latin typeface="Cambria"/>
                <a:cs typeface="Cambria"/>
              </a:rPr>
              <a:t>/202</a:t>
            </a:r>
            <a:r>
              <a:rPr lang="en-US" sz="2800" b="1" spc="-10">
                <a:latin typeface="Cambria"/>
                <a:cs typeface="Cambria"/>
              </a:rPr>
              <a:t>6</a:t>
            </a:r>
            <a:endParaRPr sz="2800">
              <a:latin typeface="Cambria"/>
              <a:cs typeface="Cambria"/>
            </a:endParaRPr>
          </a:p>
        </p:txBody>
      </p:sp>
      <p:sp>
        <p:nvSpPr>
          <p:cNvPr id="14" name="Slide Number Placeholder 35">
            <a:extLst>
              <a:ext uri="{FF2B5EF4-FFF2-40B4-BE49-F238E27FC236}">
                <a16:creationId xmlns:a16="http://schemas.microsoft.com/office/drawing/2014/main" id="{93710D32-E4F1-0061-EA23-33908B57E8CF}"/>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3</a:t>
            </a:fld>
            <a:endParaRPr lang="en-US" sz="2800" b="1">
              <a:solidFill>
                <a:schemeClr val="tx1"/>
              </a:solidFill>
              <a:latin typeface="Cambria" panose="02040503050406030204" pitchFamily="18" charset="0"/>
              <a:ea typeface="Cambria" panose="02040503050406030204" pitchFamily="18" charset="0"/>
            </a:endParaRPr>
          </a:p>
        </p:txBody>
      </p:sp>
      <p:sp>
        <p:nvSpPr>
          <p:cNvPr id="22" name="TextBox 21">
            <a:extLst>
              <a:ext uri="{FF2B5EF4-FFF2-40B4-BE49-F238E27FC236}">
                <a16:creationId xmlns:a16="http://schemas.microsoft.com/office/drawing/2014/main" id="{ABB6EA18-1D9E-D3FC-D411-8FC538B1C098}"/>
              </a:ext>
            </a:extLst>
          </p:cNvPr>
          <p:cNvSpPr txBox="1"/>
          <p:nvPr/>
        </p:nvSpPr>
        <p:spPr>
          <a:xfrm>
            <a:off x="1232354" y="1824242"/>
            <a:ext cx="16208113" cy="1769074"/>
          </a:xfrm>
          <a:prstGeom prst="rect">
            <a:avLst/>
          </a:prstGeom>
          <a:noFill/>
        </p:spPr>
        <p:txBody>
          <a:bodyPr wrap="square" lIns="91440" tIns="45720" rIns="91440" bIns="45720" anchor="t">
            <a:spAutoFit/>
          </a:bodyPr>
          <a:lstStyle/>
          <a:p>
            <a:pPr marL="342900" indent="-342900">
              <a:lnSpc>
                <a:spcPct val="150000"/>
              </a:lnSpc>
              <a:buFont typeface="Wingdings" panose="05000000000000000000" pitchFamily="2" charset="2"/>
              <a:buChar char="q"/>
            </a:pPr>
            <a:r>
              <a:rPr lang="en-US" sz="2500">
                <a:latin typeface="Poppins" panose="00000500000000000000" pitchFamily="2" charset="0"/>
                <a:cs typeface="Poppins" panose="00000500000000000000" pitchFamily="2" charset="0"/>
              </a:rPr>
              <a:t> An IoT-, robotics-, and machine-learning-based autonomous waste management system that collects waste in railway stations, monitors bin levels, classifies garbage into plastic, paper, glass, and metal, and automatically segregates it using robotic arms to support efficient recycling.</a:t>
            </a:r>
          </a:p>
        </p:txBody>
      </p:sp>
      <p:sp>
        <p:nvSpPr>
          <p:cNvPr id="24" name="TextBox 23">
            <a:extLst>
              <a:ext uri="{FF2B5EF4-FFF2-40B4-BE49-F238E27FC236}">
                <a16:creationId xmlns:a16="http://schemas.microsoft.com/office/drawing/2014/main" id="{749F187D-6CB3-9B71-4420-F9BFADED2D35}"/>
              </a:ext>
            </a:extLst>
          </p:cNvPr>
          <p:cNvSpPr txBox="1"/>
          <p:nvPr/>
        </p:nvSpPr>
        <p:spPr>
          <a:xfrm>
            <a:off x="1209867" y="4359480"/>
            <a:ext cx="16230600" cy="1836144"/>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a:ea typeface="+mn-lt"/>
                <a:cs typeface="+mn-lt"/>
              </a:rPr>
              <a:t>FR1: Autonomous waste detection and collection</a:t>
            </a:r>
          </a:p>
          <a:p>
            <a:pPr marL="457200" indent="-457200">
              <a:lnSpc>
                <a:spcPct val="150000"/>
              </a:lnSpc>
              <a:buFont typeface="Wingdings" panose="05000000000000000000" pitchFamily="2" charset="2"/>
              <a:buChar char="q"/>
            </a:pPr>
            <a:r>
              <a:rPr lang="en-US" sz="2600">
                <a:latin typeface="Poppins"/>
                <a:ea typeface="+mn-lt"/>
                <a:cs typeface="+mn-lt"/>
              </a:rPr>
              <a:t>FR2: Machine learning–based waste classification</a:t>
            </a:r>
          </a:p>
          <a:p>
            <a:pPr marL="457200" indent="-457200">
              <a:lnSpc>
                <a:spcPct val="150000"/>
              </a:lnSpc>
              <a:buFont typeface="Wingdings" panose="05000000000000000000" pitchFamily="2" charset="2"/>
              <a:buChar char="q"/>
            </a:pPr>
            <a:r>
              <a:rPr lang="en-US" sz="2600">
                <a:latin typeface="Poppins"/>
                <a:ea typeface="+mn-lt"/>
                <a:cs typeface="+mn-lt"/>
              </a:rPr>
              <a:t>FR3: Cloud-integrated bin monitoring and real-time notifications</a:t>
            </a:r>
            <a:endParaRPr lang="en-US" sz="2600">
              <a:latin typeface="Poppins"/>
              <a:cs typeface="Poppins" panose="00000500000000000000" pitchFamily="2" charset="0"/>
            </a:endParaRPr>
          </a:p>
        </p:txBody>
      </p:sp>
      <p:sp>
        <p:nvSpPr>
          <p:cNvPr id="26" name="TextBox 25">
            <a:extLst>
              <a:ext uri="{FF2B5EF4-FFF2-40B4-BE49-F238E27FC236}">
                <a16:creationId xmlns:a16="http://schemas.microsoft.com/office/drawing/2014/main" id="{A75F1A04-A5F6-853F-E113-C33FAE8639B9}"/>
              </a:ext>
            </a:extLst>
          </p:cNvPr>
          <p:cNvSpPr txBox="1"/>
          <p:nvPr/>
        </p:nvSpPr>
        <p:spPr>
          <a:xfrm>
            <a:off x="1232354" y="7003334"/>
            <a:ext cx="17031015" cy="635815"/>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High </a:t>
            </a:r>
            <a:r>
              <a:rPr lang="en-US" sz="2600" b="1">
                <a:latin typeface="Poppins" panose="00000500000000000000" pitchFamily="2" charset="0"/>
                <a:cs typeface="Poppins" panose="00000500000000000000" pitchFamily="2" charset="0"/>
              </a:rPr>
              <a:t>reliability</a:t>
            </a:r>
            <a:r>
              <a:rPr lang="en-US" sz="2600">
                <a:latin typeface="Poppins" panose="00000500000000000000" pitchFamily="2" charset="0"/>
                <a:cs typeface="Poppins" panose="00000500000000000000" pitchFamily="2" charset="0"/>
              </a:rPr>
              <a:t>, </a:t>
            </a:r>
            <a:r>
              <a:rPr lang="en-US" sz="2600" b="1">
                <a:latin typeface="Poppins" panose="00000500000000000000" pitchFamily="2" charset="0"/>
                <a:cs typeface="Poppins" panose="00000500000000000000" pitchFamily="2" charset="0"/>
              </a:rPr>
              <a:t>real-time performance</a:t>
            </a:r>
            <a:r>
              <a:rPr lang="en-US" sz="2600">
                <a:latin typeface="Poppins" panose="00000500000000000000" pitchFamily="2" charset="0"/>
                <a:cs typeface="Poppins" panose="00000500000000000000" pitchFamily="2" charset="0"/>
              </a:rPr>
              <a:t>, and </a:t>
            </a:r>
            <a:r>
              <a:rPr lang="en-US" sz="2600" b="1">
                <a:latin typeface="Poppins" panose="00000500000000000000" pitchFamily="2" charset="0"/>
                <a:cs typeface="Poppins" panose="00000500000000000000" pitchFamily="2" charset="0"/>
              </a:rPr>
              <a:t>user-friendly monitoring dashboard</a:t>
            </a:r>
            <a:endParaRPr lang="en-US" sz="2600" b="1">
              <a:latin typeface="Poppins" panose="00000500000000000000" pitchFamily="2" charset="0"/>
              <a:ea typeface="Calibri"/>
              <a:cs typeface="Poppins" panose="00000500000000000000" pitchFamily="2" charset="0"/>
            </a:endParaRPr>
          </a:p>
        </p:txBody>
      </p:sp>
      <p:sp>
        <p:nvSpPr>
          <p:cNvPr id="28" name="TextBox 27">
            <a:extLst>
              <a:ext uri="{FF2B5EF4-FFF2-40B4-BE49-F238E27FC236}">
                <a16:creationId xmlns:a16="http://schemas.microsoft.com/office/drawing/2014/main" id="{FE74973F-FD1C-71EE-8B6B-A1E69367BA87}"/>
              </a:ext>
            </a:extLst>
          </p:cNvPr>
          <p:cNvSpPr txBox="1"/>
          <p:nvPr/>
        </p:nvSpPr>
        <p:spPr>
          <a:xfrm>
            <a:off x="1232355" y="1333500"/>
            <a:ext cx="9144000" cy="584775"/>
          </a:xfrm>
          <a:prstGeom prst="rect">
            <a:avLst/>
          </a:prstGeom>
          <a:noFill/>
        </p:spPr>
        <p:txBody>
          <a:bodyPr wrap="square">
            <a:spAutoFit/>
          </a:bodyPr>
          <a:lstStyle/>
          <a:p>
            <a:pPr>
              <a:buNone/>
            </a:pPr>
            <a:r>
              <a:rPr lang="en-US" sz="3200" b="1">
                <a:solidFill>
                  <a:schemeClr val="accent1">
                    <a:lumMod val="75000"/>
                  </a:schemeClr>
                </a:solidFill>
                <a:latin typeface="Poppins" panose="00000500000000000000" pitchFamily="2" charset="0"/>
                <a:cs typeface="Poppins" panose="00000500000000000000" pitchFamily="2" charset="0"/>
              </a:rPr>
              <a:t>How to Validate Success :</a:t>
            </a:r>
            <a:endParaRPr lang="en-US" sz="3200">
              <a:solidFill>
                <a:schemeClr val="accent1">
                  <a:lumMod val="75000"/>
                </a:schemeClr>
              </a:solidFill>
              <a:latin typeface="Poppins" panose="00000500000000000000" pitchFamily="2" charset="0"/>
              <a:cs typeface="Poppins" panose="00000500000000000000" pitchFamily="2" charset="0"/>
            </a:endParaRPr>
          </a:p>
        </p:txBody>
      </p:sp>
      <p:sp>
        <p:nvSpPr>
          <p:cNvPr id="30" name="TextBox 29">
            <a:extLst>
              <a:ext uri="{FF2B5EF4-FFF2-40B4-BE49-F238E27FC236}">
                <a16:creationId xmlns:a16="http://schemas.microsoft.com/office/drawing/2014/main" id="{5082F49A-BD13-BB5F-4FE8-751BE5C1399D}"/>
              </a:ext>
            </a:extLst>
          </p:cNvPr>
          <p:cNvSpPr txBox="1"/>
          <p:nvPr/>
        </p:nvSpPr>
        <p:spPr>
          <a:xfrm>
            <a:off x="1246093" y="3857265"/>
            <a:ext cx="9144000" cy="584775"/>
          </a:xfrm>
          <a:prstGeom prst="rect">
            <a:avLst/>
          </a:prstGeom>
          <a:noFill/>
        </p:spPr>
        <p:txBody>
          <a:bodyPr wrap="square">
            <a:spAutoFit/>
          </a:bodyPr>
          <a:lstStyle/>
          <a:p>
            <a:pPr>
              <a:buNone/>
            </a:pPr>
            <a:r>
              <a:rPr lang="en-US" sz="3200" b="1">
                <a:solidFill>
                  <a:schemeClr val="accent1">
                    <a:lumMod val="75000"/>
                  </a:schemeClr>
                </a:solidFill>
                <a:latin typeface="Poppins" panose="00000500000000000000" pitchFamily="2" charset="0"/>
                <a:cs typeface="Poppins" panose="00000500000000000000" pitchFamily="2" charset="0"/>
              </a:rPr>
              <a:t>Key features delivered :</a:t>
            </a:r>
          </a:p>
        </p:txBody>
      </p:sp>
      <p:sp>
        <p:nvSpPr>
          <p:cNvPr id="32" name="TextBox 31">
            <a:extLst>
              <a:ext uri="{FF2B5EF4-FFF2-40B4-BE49-F238E27FC236}">
                <a16:creationId xmlns:a16="http://schemas.microsoft.com/office/drawing/2014/main" id="{295F2407-F77A-FD87-F6E1-1DDDF08D8F44}"/>
              </a:ext>
            </a:extLst>
          </p:cNvPr>
          <p:cNvSpPr txBox="1"/>
          <p:nvPr/>
        </p:nvSpPr>
        <p:spPr>
          <a:xfrm>
            <a:off x="1232355" y="6446396"/>
            <a:ext cx="9144000" cy="584775"/>
          </a:xfrm>
          <a:prstGeom prst="rect">
            <a:avLst/>
          </a:prstGeom>
          <a:noFill/>
        </p:spPr>
        <p:txBody>
          <a:bodyPr wrap="square">
            <a:spAutoFit/>
          </a:bodyPr>
          <a:lstStyle/>
          <a:p>
            <a:pPr>
              <a:buNone/>
            </a:pPr>
            <a:r>
              <a:rPr lang="en-US" sz="3200" b="1">
                <a:solidFill>
                  <a:schemeClr val="accent1">
                    <a:lumMod val="75000"/>
                  </a:schemeClr>
                </a:solidFill>
                <a:latin typeface="Poppins" panose="00000500000000000000" pitchFamily="2" charset="0"/>
                <a:cs typeface="Poppins" panose="00000500000000000000" pitchFamily="2" charset="0"/>
              </a:rPr>
              <a:t>Non-Functional Focus :</a:t>
            </a:r>
          </a:p>
        </p:txBody>
      </p:sp>
      <p:sp>
        <p:nvSpPr>
          <p:cNvPr id="6" name="TextBox 5">
            <a:extLst>
              <a:ext uri="{FF2B5EF4-FFF2-40B4-BE49-F238E27FC236}">
                <a16:creationId xmlns:a16="http://schemas.microsoft.com/office/drawing/2014/main" id="{76C7DF55-58DD-6CD0-07D6-37B1BB3BD9FF}"/>
              </a:ext>
            </a:extLst>
          </p:cNvPr>
          <p:cNvSpPr txBox="1"/>
          <p:nvPr/>
        </p:nvSpPr>
        <p:spPr>
          <a:xfrm>
            <a:off x="1250284" y="8500434"/>
            <a:ext cx="17031015" cy="635815"/>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System development and integration ~90% completed</a:t>
            </a:r>
            <a:endParaRPr lang="en-US" sz="2600">
              <a:latin typeface="Poppins" panose="00000500000000000000" pitchFamily="2" charset="0"/>
              <a:ea typeface="Calibri"/>
              <a:cs typeface="Poppins" panose="00000500000000000000" pitchFamily="2" charset="0"/>
            </a:endParaRPr>
          </a:p>
        </p:txBody>
      </p:sp>
      <p:sp>
        <p:nvSpPr>
          <p:cNvPr id="7" name="TextBox 6">
            <a:extLst>
              <a:ext uri="{FF2B5EF4-FFF2-40B4-BE49-F238E27FC236}">
                <a16:creationId xmlns:a16="http://schemas.microsoft.com/office/drawing/2014/main" id="{3C164EF7-3A10-D013-4CDC-7A11F77D1489}"/>
              </a:ext>
            </a:extLst>
          </p:cNvPr>
          <p:cNvSpPr txBox="1"/>
          <p:nvPr/>
        </p:nvSpPr>
        <p:spPr>
          <a:xfrm>
            <a:off x="1250285" y="7970390"/>
            <a:ext cx="9144000" cy="584775"/>
          </a:xfrm>
          <a:prstGeom prst="rect">
            <a:avLst/>
          </a:prstGeom>
          <a:noFill/>
        </p:spPr>
        <p:txBody>
          <a:bodyPr wrap="square">
            <a:spAutoFit/>
          </a:bodyPr>
          <a:lstStyle/>
          <a:p>
            <a:pPr>
              <a:buNone/>
            </a:pPr>
            <a:r>
              <a:rPr lang="en-US" sz="3200" b="1">
                <a:solidFill>
                  <a:schemeClr val="accent1">
                    <a:lumMod val="75000"/>
                  </a:schemeClr>
                </a:solidFill>
                <a:latin typeface="Poppins" panose="00000500000000000000" pitchFamily="2" charset="0"/>
                <a:cs typeface="Poppins" panose="00000500000000000000" pitchFamily="2" charset="0"/>
              </a:rPr>
              <a:t>Current Completion Status :</a:t>
            </a:r>
          </a:p>
        </p:txBody>
      </p:sp>
    </p:spTree>
    <p:extLst>
      <p:ext uri="{BB962C8B-B14F-4D97-AF65-F5344CB8AC3E}">
        <p14:creationId xmlns:p14="http://schemas.microsoft.com/office/powerpoint/2010/main" val="1035023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A9B776-E493-8B2E-1FEF-1370DB0E5D7F}"/>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6" name="Group 2">
            <a:extLst>
              <a:ext uri="{FF2B5EF4-FFF2-40B4-BE49-F238E27FC236}">
                <a16:creationId xmlns:a16="http://schemas.microsoft.com/office/drawing/2014/main" id="{F80EB3FD-7770-6039-13FA-75578C78661E}"/>
              </a:ext>
            </a:extLst>
          </p:cNvPr>
          <p:cNvGrpSpPr/>
          <p:nvPr/>
        </p:nvGrpSpPr>
        <p:grpSpPr>
          <a:xfrm>
            <a:off x="247242" y="113976"/>
            <a:ext cx="17793515" cy="9474901"/>
            <a:chOff x="0" y="-38100"/>
            <a:chExt cx="4982580" cy="2813272"/>
          </a:xfrm>
        </p:grpSpPr>
        <p:sp>
          <p:nvSpPr>
            <p:cNvPr id="4" name="Freeform 3">
              <a:extLst>
                <a:ext uri="{FF2B5EF4-FFF2-40B4-BE49-F238E27FC236}">
                  <a16:creationId xmlns:a16="http://schemas.microsoft.com/office/drawing/2014/main" id="{167C39D5-EC68-BAD6-FC6C-97C950DE5491}"/>
                </a:ext>
              </a:extLst>
            </p:cNvPr>
            <p:cNvSpPr/>
            <p:nvPr/>
          </p:nvSpPr>
          <p:spPr>
            <a:xfrm>
              <a:off x="0" y="0"/>
              <a:ext cx="4982580" cy="2775172"/>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ln w="28575">
                  <a:solidFill>
                    <a:schemeClr val="tx1"/>
                  </a:solidFill>
                </a:ln>
              </a:endParaRPr>
            </a:p>
          </p:txBody>
        </p:sp>
        <p:sp>
          <p:nvSpPr>
            <p:cNvPr id="5" name="TextBox 4">
              <a:extLst>
                <a:ext uri="{FF2B5EF4-FFF2-40B4-BE49-F238E27FC236}">
                  <a16:creationId xmlns:a16="http://schemas.microsoft.com/office/drawing/2014/main" id="{6E4E2621-BE3E-7CCE-A542-661A43B87CAD}"/>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ln w="28575">
                  <a:solidFill>
                    <a:schemeClr val="tx1"/>
                  </a:solidFill>
                </a:ln>
              </a:endParaRPr>
            </a:p>
          </p:txBody>
        </p:sp>
      </p:grpSp>
      <p:sp>
        <p:nvSpPr>
          <p:cNvPr id="8" name="TextBox 23">
            <a:extLst>
              <a:ext uri="{FF2B5EF4-FFF2-40B4-BE49-F238E27FC236}">
                <a16:creationId xmlns:a16="http://schemas.microsoft.com/office/drawing/2014/main" id="{91E4AA16-1599-EC45-7450-A15AD560789C}"/>
              </a:ext>
            </a:extLst>
          </p:cNvPr>
          <p:cNvSpPr txBox="1"/>
          <p:nvPr/>
        </p:nvSpPr>
        <p:spPr>
          <a:xfrm>
            <a:off x="2523670" y="419100"/>
            <a:ext cx="13283221" cy="677108"/>
          </a:xfrm>
          <a:prstGeom prst="rect">
            <a:avLst/>
          </a:prstGeom>
        </p:spPr>
        <p:txBody>
          <a:bodyPr wrap="square" lIns="0" tIns="0" rIns="0" bIns="0" rtlCol="0" anchor="t">
            <a:spAutoFit/>
          </a:bodyPr>
          <a:lstStyle/>
          <a:p>
            <a:pPr algn="ctr"/>
            <a:r>
              <a:rPr lang="en-US" sz="4400" spc="-35">
                <a:solidFill>
                  <a:schemeClr val="accent1"/>
                </a:solidFill>
                <a:latin typeface="Poppins"/>
                <a:ea typeface="Poppins"/>
                <a:cs typeface="Poppins"/>
                <a:sym typeface="Poppins"/>
              </a:rPr>
              <a:t>System Architecture &amp; Integration</a:t>
            </a:r>
            <a:endParaRPr lang="en-US" sz="4400" spc="-35">
              <a:solidFill>
                <a:srgbClr val="000000"/>
              </a:solidFill>
              <a:latin typeface="Poppins"/>
              <a:ea typeface="Poppins"/>
              <a:cs typeface="Poppins"/>
            </a:endParaRPr>
          </a:p>
        </p:txBody>
      </p:sp>
      <p:pic>
        <p:nvPicPr>
          <p:cNvPr id="10" name="object 3" descr="A close up of a sign&#10;&#10;AI-generated content may be incorrect.">
            <a:extLst>
              <a:ext uri="{FF2B5EF4-FFF2-40B4-BE49-F238E27FC236}">
                <a16:creationId xmlns:a16="http://schemas.microsoft.com/office/drawing/2014/main" id="{5A25B48A-2E79-0F3E-D013-231BB04D985D}"/>
              </a:ext>
            </a:extLst>
          </p:cNvPr>
          <p:cNvPicPr/>
          <p:nvPr/>
        </p:nvPicPr>
        <p:blipFill>
          <a:blip r:embed="rId2" cstate="print"/>
          <a:stretch>
            <a:fillRect/>
          </a:stretch>
        </p:blipFill>
        <p:spPr>
          <a:xfrm>
            <a:off x="0" y="9640732"/>
            <a:ext cx="3246120" cy="684368"/>
          </a:xfrm>
          <a:prstGeom prst="rect">
            <a:avLst/>
          </a:prstGeom>
        </p:spPr>
      </p:pic>
      <p:sp>
        <p:nvSpPr>
          <p:cNvPr id="12" name="object 4">
            <a:extLst>
              <a:ext uri="{FF2B5EF4-FFF2-40B4-BE49-F238E27FC236}">
                <a16:creationId xmlns:a16="http://schemas.microsoft.com/office/drawing/2014/main" id="{ED6DEE07-5389-765D-9410-CDA119375D94}"/>
              </a:ext>
            </a:extLst>
          </p:cNvPr>
          <p:cNvSpPr txBox="1"/>
          <p:nvPr/>
        </p:nvSpPr>
        <p:spPr>
          <a:xfrm>
            <a:off x="14412362" y="97046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a:t>
            </a:r>
            <a:r>
              <a:rPr sz="2800" b="1" spc="-10">
                <a:latin typeface="Cambria"/>
                <a:cs typeface="Cambria"/>
              </a:rPr>
              <a:t>/202</a:t>
            </a:r>
            <a:r>
              <a:rPr lang="en-US" sz="2800" b="1" spc="-10">
                <a:latin typeface="Cambria"/>
                <a:cs typeface="Cambria"/>
              </a:rPr>
              <a:t>6</a:t>
            </a:r>
            <a:endParaRPr sz="2800">
              <a:latin typeface="Cambria"/>
              <a:cs typeface="Cambria"/>
            </a:endParaRPr>
          </a:p>
        </p:txBody>
      </p:sp>
      <p:sp>
        <p:nvSpPr>
          <p:cNvPr id="14" name="Slide Number Placeholder 35">
            <a:extLst>
              <a:ext uri="{FF2B5EF4-FFF2-40B4-BE49-F238E27FC236}">
                <a16:creationId xmlns:a16="http://schemas.microsoft.com/office/drawing/2014/main" id="{F834DC7F-DE18-603E-A67A-04F6B7AC8FBA}"/>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4</a:t>
            </a:fld>
            <a:endParaRPr lang="en-US" sz="2800" b="1">
              <a:solidFill>
                <a:schemeClr val="tx1"/>
              </a:solidFill>
              <a:latin typeface="Cambria" panose="02040503050406030204" pitchFamily="18" charset="0"/>
              <a:ea typeface="Cambria" panose="02040503050406030204" pitchFamily="18" charset="0"/>
            </a:endParaRPr>
          </a:p>
        </p:txBody>
      </p:sp>
      <p:pic>
        <p:nvPicPr>
          <p:cNvPr id="3" name="Picture 2" descr="A diagram of a company&#10;&#10;AI-generated content may be incorrect.">
            <a:extLst>
              <a:ext uri="{FF2B5EF4-FFF2-40B4-BE49-F238E27FC236}">
                <a16:creationId xmlns:a16="http://schemas.microsoft.com/office/drawing/2014/main" id="{4D760893-9A40-50E6-FFD1-95ECA38DF14C}"/>
              </a:ext>
            </a:extLst>
          </p:cNvPr>
          <p:cNvPicPr>
            <a:picLocks noChangeAspect="1"/>
          </p:cNvPicPr>
          <p:nvPr/>
        </p:nvPicPr>
        <p:blipFill>
          <a:blip r:embed="rId3"/>
          <a:stretch>
            <a:fillRect/>
          </a:stretch>
        </p:blipFill>
        <p:spPr>
          <a:xfrm>
            <a:off x="272735" y="1108422"/>
            <a:ext cx="17446450" cy="8273346"/>
          </a:xfrm>
          <a:prstGeom prst="rect">
            <a:avLst/>
          </a:prstGeom>
        </p:spPr>
      </p:pic>
    </p:spTree>
    <p:extLst>
      <p:ext uri="{BB962C8B-B14F-4D97-AF65-F5344CB8AC3E}">
        <p14:creationId xmlns:p14="http://schemas.microsoft.com/office/powerpoint/2010/main" val="2131815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99FD4-9F29-405C-192C-6FFCBB8FB37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C9D53C-36E6-0FAB-87EA-104E8CBDF587}"/>
              </a:ext>
            </a:extLst>
          </p:cNvPr>
          <p:cNvGrpSpPr/>
          <p:nvPr/>
        </p:nvGrpSpPr>
        <p:grpSpPr>
          <a:xfrm>
            <a:off x="247242" y="113976"/>
            <a:ext cx="17793515" cy="9474901"/>
            <a:chOff x="0" y="-38100"/>
            <a:chExt cx="4982580" cy="2813272"/>
          </a:xfrm>
        </p:grpSpPr>
        <p:sp>
          <p:nvSpPr>
            <p:cNvPr id="3" name="Freeform 3">
              <a:extLst>
                <a:ext uri="{FF2B5EF4-FFF2-40B4-BE49-F238E27FC236}">
                  <a16:creationId xmlns:a16="http://schemas.microsoft.com/office/drawing/2014/main" id="{92A5F34D-A165-BA40-E76A-3384161398B3}"/>
                </a:ext>
              </a:extLst>
            </p:cNvPr>
            <p:cNvSpPr/>
            <p:nvPr/>
          </p:nvSpPr>
          <p:spPr>
            <a:xfrm>
              <a:off x="0" y="0"/>
              <a:ext cx="4982580" cy="2775172"/>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ln w="28575">
                  <a:solidFill>
                    <a:schemeClr val="tx1"/>
                  </a:solidFill>
                </a:ln>
              </a:endParaRPr>
            </a:p>
          </p:txBody>
        </p:sp>
        <p:sp>
          <p:nvSpPr>
            <p:cNvPr id="4" name="TextBox 4">
              <a:extLst>
                <a:ext uri="{FF2B5EF4-FFF2-40B4-BE49-F238E27FC236}">
                  <a16:creationId xmlns:a16="http://schemas.microsoft.com/office/drawing/2014/main" id="{56129E6C-FC4B-437D-6D2D-2C69C9BECF71}"/>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ln w="28575">
                  <a:solidFill>
                    <a:schemeClr val="tx1"/>
                  </a:solidFill>
                </a:ln>
              </a:endParaRPr>
            </a:p>
          </p:txBody>
        </p:sp>
      </p:grpSp>
      <p:sp>
        <p:nvSpPr>
          <p:cNvPr id="23" name="TextBox 23">
            <a:extLst>
              <a:ext uri="{FF2B5EF4-FFF2-40B4-BE49-F238E27FC236}">
                <a16:creationId xmlns:a16="http://schemas.microsoft.com/office/drawing/2014/main" id="{49C174EF-48AA-A6EB-5E59-7DD8A7E09BFD}"/>
              </a:ext>
            </a:extLst>
          </p:cNvPr>
          <p:cNvSpPr txBox="1"/>
          <p:nvPr/>
        </p:nvSpPr>
        <p:spPr>
          <a:xfrm>
            <a:off x="3056965" y="544286"/>
            <a:ext cx="12248221" cy="677108"/>
          </a:xfrm>
          <a:prstGeom prst="rect">
            <a:avLst/>
          </a:prstGeom>
        </p:spPr>
        <p:txBody>
          <a:bodyPr wrap="square" lIns="0" tIns="0" rIns="0" bIns="0" rtlCol="0" anchor="t">
            <a:spAutoFit/>
          </a:bodyPr>
          <a:lstStyle/>
          <a:p>
            <a:pPr algn="ctr"/>
            <a:r>
              <a:rPr lang="en-US" sz="4400">
                <a:solidFill>
                  <a:schemeClr val="tx2">
                    <a:lumMod val="60000"/>
                    <a:lumOff val="40000"/>
                  </a:schemeClr>
                </a:solidFill>
                <a:latin typeface="Poppins" panose="00000500000000000000" pitchFamily="2" charset="0"/>
                <a:cs typeface="Poppins" panose="00000500000000000000" pitchFamily="2" charset="0"/>
              </a:rPr>
              <a:t>Commercialization / Impact</a:t>
            </a:r>
            <a:endParaRPr lang="en-US" sz="4400" spc="-35">
              <a:solidFill>
                <a:schemeClr val="tx2">
                  <a:lumMod val="60000"/>
                  <a:lumOff val="40000"/>
                </a:schemeClr>
              </a:solidFill>
              <a:latin typeface="Poppins" panose="00000500000000000000" pitchFamily="2" charset="0"/>
              <a:ea typeface="Poppins"/>
              <a:cs typeface="Poppins" panose="00000500000000000000" pitchFamily="2" charset="0"/>
              <a:sym typeface="Poppins"/>
            </a:endParaRPr>
          </a:p>
        </p:txBody>
      </p:sp>
      <p:pic>
        <p:nvPicPr>
          <p:cNvPr id="41" name="object 3">
            <a:extLst>
              <a:ext uri="{FF2B5EF4-FFF2-40B4-BE49-F238E27FC236}">
                <a16:creationId xmlns:a16="http://schemas.microsoft.com/office/drawing/2014/main" id="{EC99C5AD-B952-1E25-FC64-0F0961E1A4E2}"/>
              </a:ext>
            </a:extLst>
          </p:cNvPr>
          <p:cNvPicPr/>
          <p:nvPr/>
        </p:nvPicPr>
        <p:blipFill>
          <a:blip r:embed="rId2" cstate="print"/>
          <a:stretch>
            <a:fillRect/>
          </a:stretch>
        </p:blipFill>
        <p:spPr>
          <a:xfrm>
            <a:off x="0" y="9640732"/>
            <a:ext cx="3246120" cy="684368"/>
          </a:xfrm>
          <a:prstGeom prst="rect">
            <a:avLst/>
          </a:prstGeom>
        </p:spPr>
      </p:pic>
      <p:sp>
        <p:nvSpPr>
          <p:cNvPr id="42" name="object 4">
            <a:extLst>
              <a:ext uri="{FF2B5EF4-FFF2-40B4-BE49-F238E27FC236}">
                <a16:creationId xmlns:a16="http://schemas.microsoft.com/office/drawing/2014/main" id="{74E0CD47-9203-A749-0653-86B3295A9D40}"/>
              </a:ext>
            </a:extLst>
          </p:cNvPr>
          <p:cNvSpPr txBox="1"/>
          <p:nvPr/>
        </p:nvSpPr>
        <p:spPr>
          <a:xfrm>
            <a:off x="14412362" y="97046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0/2026</a:t>
            </a:r>
            <a:endParaRPr sz="2800">
              <a:latin typeface="Cambria"/>
              <a:cs typeface="Cambria"/>
            </a:endParaRPr>
          </a:p>
        </p:txBody>
      </p:sp>
      <p:sp>
        <p:nvSpPr>
          <p:cNvPr id="43" name="Slide Number Placeholder 35">
            <a:extLst>
              <a:ext uri="{FF2B5EF4-FFF2-40B4-BE49-F238E27FC236}">
                <a16:creationId xmlns:a16="http://schemas.microsoft.com/office/drawing/2014/main" id="{19FFC183-1E34-2D97-0259-9E417FBA0443}"/>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5</a:t>
            </a:fld>
            <a:endParaRPr lang="en-US" sz="2800" b="1">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5DDAE27E-33A8-8F3B-79FD-FDBD918C7C0F}"/>
              </a:ext>
            </a:extLst>
          </p:cNvPr>
          <p:cNvSpPr txBox="1"/>
          <p:nvPr/>
        </p:nvSpPr>
        <p:spPr>
          <a:xfrm>
            <a:off x="1328461" y="1928688"/>
            <a:ext cx="16171575" cy="1235979"/>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Sri Lanka Railways, railway station authorities, municipal waste management departments, and smart city initiatives.</a:t>
            </a:r>
          </a:p>
        </p:txBody>
      </p:sp>
      <p:sp>
        <p:nvSpPr>
          <p:cNvPr id="8" name="TextBox 7">
            <a:extLst>
              <a:ext uri="{FF2B5EF4-FFF2-40B4-BE49-F238E27FC236}">
                <a16:creationId xmlns:a16="http://schemas.microsoft.com/office/drawing/2014/main" id="{842BCFFB-F7E2-578E-C199-16EE37EAB45E}"/>
              </a:ext>
            </a:extLst>
          </p:cNvPr>
          <p:cNvSpPr txBox="1"/>
          <p:nvPr/>
        </p:nvSpPr>
        <p:spPr>
          <a:xfrm>
            <a:off x="1328462" y="3849531"/>
            <a:ext cx="16340974" cy="1235979"/>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Provides </a:t>
            </a:r>
            <a:r>
              <a:rPr lang="en-US" sz="2600" b="1">
                <a:latin typeface="Poppins" panose="00000500000000000000" pitchFamily="2" charset="0"/>
                <a:cs typeface="Poppins" panose="00000500000000000000" pitchFamily="2" charset="0"/>
              </a:rPr>
              <a:t>automated waste collection, intelligent classification, and real-time monitoring</a:t>
            </a:r>
            <a:r>
              <a:rPr lang="en-US" sz="2600">
                <a:latin typeface="Poppins" panose="00000500000000000000" pitchFamily="2" charset="0"/>
                <a:cs typeface="Poppins" panose="00000500000000000000" pitchFamily="2" charset="0"/>
              </a:rPr>
              <a:t>, reducing manual labor, improving cleanliness, and increasing recycling efficiency.</a:t>
            </a:r>
          </a:p>
        </p:txBody>
      </p:sp>
      <p:sp>
        <p:nvSpPr>
          <p:cNvPr id="10" name="TextBox 9">
            <a:extLst>
              <a:ext uri="{FF2B5EF4-FFF2-40B4-BE49-F238E27FC236}">
                <a16:creationId xmlns:a16="http://schemas.microsoft.com/office/drawing/2014/main" id="{A25840D8-70ED-337B-1992-4A13F5AE2476}"/>
              </a:ext>
            </a:extLst>
          </p:cNvPr>
          <p:cNvSpPr txBox="1"/>
          <p:nvPr/>
        </p:nvSpPr>
        <p:spPr>
          <a:xfrm>
            <a:off x="1328461" y="3146295"/>
            <a:ext cx="9211454" cy="761234"/>
          </a:xfrm>
          <a:prstGeom prst="rect">
            <a:avLst/>
          </a:prstGeom>
          <a:noFill/>
        </p:spPr>
        <p:txBody>
          <a:bodyPr wrap="square" lIns="91440" tIns="45720" rIns="91440" bIns="45720" anchor="t">
            <a:spAutoFit/>
          </a:bodyPr>
          <a:lstStyle/>
          <a:p>
            <a:pPr>
              <a:lnSpc>
                <a:spcPct val="150000"/>
              </a:lnSpc>
              <a:buNone/>
            </a:pPr>
            <a:r>
              <a:rPr lang="en-US" sz="3200" b="1">
                <a:solidFill>
                  <a:schemeClr val="accent1">
                    <a:lumMod val="75000"/>
                  </a:schemeClr>
                </a:solidFill>
                <a:latin typeface="Poppins" panose="00000500000000000000" pitchFamily="2" charset="0"/>
                <a:cs typeface="Poppins" panose="00000500000000000000" pitchFamily="2" charset="0"/>
              </a:rPr>
              <a:t>Value Proposition :</a:t>
            </a:r>
          </a:p>
        </p:txBody>
      </p:sp>
      <p:sp>
        <p:nvSpPr>
          <p:cNvPr id="12" name="TextBox 11">
            <a:extLst>
              <a:ext uri="{FF2B5EF4-FFF2-40B4-BE49-F238E27FC236}">
                <a16:creationId xmlns:a16="http://schemas.microsoft.com/office/drawing/2014/main" id="{5C91D35D-2ECA-F306-434B-0577FC4F377A}"/>
              </a:ext>
            </a:extLst>
          </p:cNvPr>
          <p:cNvSpPr txBox="1"/>
          <p:nvPr/>
        </p:nvSpPr>
        <p:spPr>
          <a:xfrm>
            <a:off x="1328461" y="1230892"/>
            <a:ext cx="9211454" cy="761234"/>
          </a:xfrm>
          <a:prstGeom prst="rect">
            <a:avLst/>
          </a:prstGeom>
          <a:noFill/>
        </p:spPr>
        <p:txBody>
          <a:bodyPr wrap="square" lIns="91440" tIns="45720" rIns="91440" bIns="45720" anchor="t">
            <a:spAutoFit/>
          </a:bodyPr>
          <a:lstStyle/>
          <a:p>
            <a:pPr>
              <a:lnSpc>
                <a:spcPct val="150000"/>
              </a:lnSpc>
              <a:buNone/>
            </a:pPr>
            <a:r>
              <a:rPr lang="en-US" sz="3200" b="1">
                <a:solidFill>
                  <a:schemeClr val="accent1">
                    <a:lumMod val="75000"/>
                  </a:schemeClr>
                </a:solidFill>
                <a:latin typeface="Poppins" panose="00000500000000000000" pitchFamily="2" charset="0"/>
                <a:cs typeface="Poppins" panose="00000500000000000000" pitchFamily="2" charset="0"/>
              </a:rPr>
              <a:t>Target Users / Market </a:t>
            </a:r>
            <a:r>
              <a:rPr lang="en-US" sz="3200" b="1">
                <a:solidFill>
                  <a:schemeClr val="accent1">
                    <a:lumMod val="75000"/>
                  </a:schemeClr>
                </a:solidFill>
                <a:latin typeface="Poppins"/>
                <a:cs typeface="Poppins"/>
              </a:rPr>
              <a:t>:</a:t>
            </a:r>
          </a:p>
        </p:txBody>
      </p:sp>
      <p:sp>
        <p:nvSpPr>
          <p:cNvPr id="16" name="TextBox 15">
            <a:extLst>
              <a:ext uri="{FF2B5EF4-FFF2-40B4-BE49-F238E27FC236}">
                <a16:creationId xmlns:a16="http://schemas.microsoft.com/office/drawing/2014/main" id="{BECD47AC-689A-ED8E-60C4-25BDBD6869E6}"/>
              </a:ext>
            </a:extLst>
          </p:cNvPr>
          <p:cNvSpPr txBox="1"/>
          <p:nvPr/>
        </p:nvSpPr>
        <p:spPr>
          <a:xfrm>
            <a:off x="1332944" y="5792472"/>
            <a:ext cx="16171575" cy="1235979"/>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Built using </a:t>
            </a:r>
            <a:r>
              <a:rPr lang="en-US" sz="2600" b="1">
                <a:latin typeface="Poppins" panose="00000500000000000000" pitchFamily="2" charset="0"/>
                <a:cs typeface="Poppins" panose="00000500000000000000" pitchFamily="2" charset="0"/>
              </a:rPr>
              <a:t>affordable sensors, microcontrollers, and open-source machine learning models</a:t>
            </a:r>
            <a:r>
              <a:rPr lang="en-US" sz="2600">
                <a:latin typeface="Poppins" panose="00000500000000000000" pitchFamily="2" charset="0"/>
                <a:cs typeface="Poppins" panose="00000500000000000000" pitchFamily="2" charset="0"/>
              </a:rPr>
              <a:t>, making it cost-effective and scalable for public infrastructure.</a:t>
            </a:r>
          </a:p>
        </p:txBody>
      </p:sp>
      <p:sp>
        <p:nvSpPr>
          <p:cNvPr id="17" name="TextBox 16">
            <a:extLst>
              <a:ext uri="{FF2B5EF4-FFF2-40B4-BE49-F238E27FC236}">
                <a16:creationId xmlns:a16="http://schemas.microsoft.com/office/drawing/2014/main" id="{975C193C-D646-2F30-34CD-EC1F6DC6741F}"/>
              </a:ext>
            </a:extLst>
          </p:cNvPr>
          <p:cNvSpPr txBox="1"/>
          <p:nvPr/>
        </p:nvSpPr>
        <p:spPr>
          <a:xfrm>
            <a:off x="1332945" y="7767103"/>
            <a:ext cx="16340974" cy="1235979"/>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600">
                <a:latin typeface="Poppins" panose="00000500000000000000" pitchFamily="2" charset="0"/>
                <a:cs typeface="Poppins" panose="00000500000000000000" pitchFamily="2" charset="0"/>
              </a:rPr>
              <a:t>Pilot implementation in a </a:t>
            </a:r>
            <a:r>
              <a:rPr lang="en-US" sz="2600" b="1">
                <a:latin typeface="Poppins" panose="00000500000000000000" pitchFamily="2" charset="0"/>
                <a:cs typeface="Poppins" panose="00000500000000000000" pitchFamily="2" charset="0"/>
              </a:rPr>
              <a:t>selected railway station</a:t>
            </a:r>
            <a:r>
              <a:rPr lang="en-US" sz="2600">
                <a:latin typeface="Poppins" panose="00000500000000000000" pitchFamily="2" charset="0"/>
                <a:cs typeface="Poppins" panose="00000500000000000000" pitchFamily="2" charset="0"/>
              </a:rPr>
              <a:t>, performance evaluation, followed by </a:t>
            </a:r>
            <a:r>
              <a:rPr lang="en-US" sz="2600" b="1">
                <a:latin typeface="Poppins" panose="00000500000000000000" pitchFamily="2" charset="0"/>
                <a:cs typeface="Poppins" panose="00000500000000000000" pitchFamily="2" charset="0"/>
              </a:rPr>
              <a:t>gradual deployment across major stations in Sri Lanka</a:t>
            </a:r>
            <a:r>
              <a:rPr lang="en-US" sz="2600">
                <a:latin typeface="Poppins" panose="00000500000000000000" pitchFamily="2" charset="0"/>
                <a:cs typeface="Poppins" panose="00000500000000000000" pitchFamily="2" charset="0"/>
              </a:rPr>
              <a:t>.</a:t>
            </a:r>
          </a:p>
        </p:txBody>
      </p:sp>
      <p:sp>
        <p:nvSpPr>
          <p:cNvPr id="18" name="TextBox 17">
            <a:extLst>
              <a:ext uri="{FF2B5EF4-FFF2-40B4-BE49-F238E27FC236}">
                <a16:creationId xmlns:a16="http://schemas.microsoft.com/office/drawing/2014/main" id="{6A4CBF33-1112-4DB7-D13C-D22BFDE014E0}"/>
              </a:ext>
            </a:extLst>
          </p:cNvPr>
          <p:cNvSpPr txBox="1"/>
          <p:nvPr/>
        </p:nvSpPr>
        <p:spPr>
          <a:xfrm>
            <a:off x="1332944" y="7063867"/>
            <a:ext cx="9211454" cy="761234"/>
          </a:xfrm>
          <a:prstGeom prst="rect">
            <a:avLst/>
          </a:prstGeom>
          <a:noFill/>
        </p:spPr>
        <p:txBody>
          <a:bodyPr wrap="square" lIns="91440" tIns="45720" rIns="91440" bIns="45720" anchor="t">
            <a:spAutoFit/>
          </a:bodyPr>
          <a:lstStyle/>
          <a:p>
            <a:pPr>
              <a:lnSpc>
                <a:spcPct val="150000"/>
              </a:lnSpc>
              <a:buNone/>
            </a:pPr>
            <a:r>
              <a:rPr lang="en-US" sz="3200" b="1">
                <a:solidFill>
                  <a:schemeClr val="accent1">
                    <a:lumMod val="75000"/>
                  </a:schemeClr>
                </a:solidFill>
                <a:latin typeface="Poppins" panose="00000500000000000000" pitchFamily="2" charset="0"/>
                <a:cs typeface="Poppins" panose="00000500000000000000" pitchFamily="2" charset="0"/>
              </a:rPr>
              <a:t>Adoption Plan / Next Steps :</a:t>
            </a:r>
          </a:p>
        </p:txBody>
      </p:sp>
      <p:sp>
        <p:nvSpPr>
          <p:cNvPr id="19" name="TextBox 18">
            <a:extLst>
              <a:ext uri="{FF2B5EF4-FFF2-40B4-BE49-F238E27FC236}">
                <a16:creationId xmlns:a16="http://schemas.microsoft.com/office/drawing/2014/main" id="{E95DBE12-1AF8-1123-7D51-22DF168512C8}"/>
              </a:ext>
            </a:extLst>
          </p:cNvPr>
          <p:cNvSpPr txBox="1"/>
          <p:nvPr/>
        </p:nvSpPr>
        <p:spPr>
          <a:xfrm>
            <a:off x="1332944" y="5094676"/>
            <a:ext cx="9211454" cy="761234"/>
          </a:xfrm>
          <a:prstGeom prst="rect">
            <a:avLst/>
          </a:prstGeom>
          <a:noFill/>
        </p:spPr>
        <p:txBody>
          <a:bodyPr wrap="square" lIns="91440" tIns="45720" rIns="91440" bIns="45720" anchor="t">
            <a:spAutoFit/>
          </a:bodyPr>
          <a:lstStyle/>
          <a:p>
            <a:pPr>
              <a:lnSpc>
                <a:spcPct val="150000"/>
              </a:lnSpc>
              <a:buNone/>
            </a:pPr>
            <a:r>
              <a:rPr lang="en-US" sz="3200" b="1">
                <a:solidFill>
                  <a:schemeClr val="accent1">
                    <a:lumMod val="75000"/>
                  </a:schemeClr>
                </a:solidFill>
                <a:latin typeface="Poppins" panose="00000500000000000000" pitchFamily="2" charset="0"/>
                <a:cs typeface="Poppins" panose="00000500000000000000" pitchFamily="2" charset="0"/>
              </a:rPr>
              <a:t>Cost and Feasibility </a:t>
            </a:r>
            <a:r>
              <a:rPr lang="en-US" sz="3200" b="1">
                <a:solidFill>
                  <a:schemeClr val="accent1">
                    <a:lumMod val="75000"/>
                  </a:schemeClr>
                </a:solidFill>
                <a:latin typeface="Poppins"/>
                <a:cs typeface="Poppins"/>
              </a:rPr>
              <a:t>:</a:t>
            </a:r>
          </a:p>
        </p:txBody>
      </p:sp>
    </p:spTree>
    <p:extLst>
      <p:ext uri="{BB962C8B-B14F-4D97-AF65-F5344CB8AC3E}">
        <p14:creationId xmlns:p14="http://schemas.microsoft.com/office/powerpoint/2010/main" val="2291938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8D093-0174-7279-EA64-EEA1CC9119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110C5B-BBE0-1876-3738-F7BF752FE15D}"/>
              </a:ext>
            </a:extLst>
          </p:cNvPr>
          <p:cNvGrpSpPr/>
          <p:nvPr/>
        </p:nvGrpSpPr>
        <p:grpSpPr>
          <a:xfrm>
            <a:off x="247242" y="113976"/>
            <a:ext cx="17793515" cy="9474901"/>
            <a:chOff x="0" y="-38100"/>
            <a:chExt cx="4982580" cy="2813272"/>
          </a:xfrm>
        </p:grpSpPr>
        <p:sp>
          <p:nvSpPr>
            <p:cNvPr id="3" name="Freeform 3">
              <a:extLst>
                <a:ext uri="{FF2B5EF4-FFF2-40B4-BE49-F238E27FC236}">
                  <a16:creationId xmlns:a16="http://schemas.microsoft.com/office/drawing/2014/main" id="{63F09A14-B4B9-705B-1841-A62D58748439}"/>
                </a:ext>
              </a:extLst>
            </p:cNvPr>
            <p:cNvSpPr/>
            <p:nvPr/>
          </p:nvSpPr>
          <p:spPr>
            <a:xfrm>
              <a:off x="0" y="0"/>
              <a:ext cx="4982580" cy="2775172"/>
            </a:xfrm>
            <a:custGeom>
              <a:avLst/>
              <a:gdLst/>
              <a:ahLst/>
              <a:cxnLst/>
              <a:rect l="l" t="t" r="r" b="b"/>
              <a:pathLst>
                <a:path w="4982580" h="2744893">
                  <a:moveTo>
                    <a:pt x="0" y="0"/>
                  </a:moveTo>
                  <a:lnTo>
                    <a:pt x="4982580" y="0"/>
                  </a:lnTo>
                  <a:lnTo>
                    <a:pt x="4982580" y="2744893"/>
                  </a:lnTo>
                  <a:lnTo>
                    <a:pt x="0" y="2744893"/>
                  </a:lnTo>
                  <a:close/>
                </a:path>
              </a:pathLst>
            </a:custGeom>
            <a:solidFill>
              <a:srgbClr val="000000">
                <a:alpha val="0"/>
              </a:srgbClr>
            </a:solidFill>
            <a:ln w="76200" cap="sq">
              <a:solidFill>
                <a:srgbClr val="145DA0"/>
              </a:solidFill>
              <a:prstDash val="solid"/>
              <a:miter/>
            </a:ln>
          </p:spPr>
          <p:txBody>
            <a:bodyPr/>
            <a:lstStyle/>
            <a:p>
              <a:endParaRPr lang="si-LK">
                <a:ln w="28575">
                  <a:solidFill>
                    <a:schemeClr val="tx1"/>
                  </a:solidFill>
                </a:ln>
              </a:endParaRPr>
            </a:p>
          </p:txBody>
        </p:sp>
        <p:sp>
          <p:nvSpPr>
            <p:cNvPr id="4" name="TextBox 4">
              <a:extLst>
                <a:ext uri="{FF2B5EF4-FFF2-40B4-BE49-F238E27FC236}">
                  <a16:creationId xmlns:a16="http://schemas.microsoft.com/office/drawing/2014/main" id="{8E6D3B30-A145-5520-5383-CD64A6E492F0}"/>
                </a:ext>
              </a:extLst>
            </p:cNvPr>
            <p:cNvSpPr txBox="1"/>
            <p:nvPr/>
          </p:nvSpPr>
          <p:spPr>
            <a:xfrm>
              <a:off x="0" y="-38100"/>
              <a:ext cx="4982580" cy="2782993"/>
            </a:xfrm>
            <a:prstGeom prst="rect">
              <a:avLst/>
            </a:prstGeom>
          </p:spPr>
          <p:txBody>
            <a:bodyPr lIns="50800" tIns="50800" rIns="50800" bIns="50800" rtlCol="0" anchor="ctr"/>
            <a:lstStyle/>
            <a:p>
              <a:pPr marL="0" lvl="0" indent="0" algn="ctr">
                <a:lnSpc>
                  <a:spcPts val="2659"/>
                </a:lnSpc>
                <a:spcBef>
                  <a:spcPct val="0"/>
                </a:spcBef>
              </a:pPr>
              <a:endParaRPr>
                <a:ln w="28575">
                  <a:solidFill>
                    <a:schemeClr val="tx1"/>
                  </a:solidFill>
                </a:ln>
              </a:endParaRPr>
            </a:p>
          </p:txBody>
        </p:sp>
      </p:grpSp>
      <p:sp>
        <p:nvSpPr>
          <p:cNvPr id="23" name="TextBox 23">
            <a:extLst>
              <a:ext uri="{FF2B5EF4-FFF2-40B4-BE49-F238E27FC236}">
                <a16:creationId xmlns:a16="http://schemas.microsoft.com/office/drawing/2014/main" id="{B89ADD56-3EC7-2FC1-914B-7F3CC36B48B1}"/>
              </a:ext>
            </a:extLst>
          </p:cNvPr>
          <p:cNvSpPr txBox="1"/>
          <p:nvPr/>
        </p:nvSpPr>
        <p:spPr>
          <a:xfrm>
            <a:off x="3016624" y="477051"/>
            <a:ext cx="12248221" cy="615553"/>
          </a:xfrm>
          <a:prstGeom prst="rect">
            <a:avLst/>
          </a:prstGeom>
        </p:spPr>
        <p:txBody>
          <a:bodyPr wrap="square" lIns="0" tIns="0" rIns="0" bIns="0" rtlCol="0" anchor="t">
            <a:spAutoFit/>
          </a:bodyPr>
          <a:lstStyle/>
          <a:p>
            <a:pPr algn="ctr"/>
            <a:r>
              <a:rPr lang="en-US" sz="4000">
                <a:solidFill>
                  <a:schemeClr val="tx2">
                    <a:lumMod val="60000"/>
                    <a:lumOff val="40000"/>
                  </a:schemeClr>
                </a:solidFill>
                <a:latin typeface="Poppins" panose="00000500000000000000" pitchFamily="2" charset="0"/>
                <a:cs typeface="Poppins" panose="00000500000000000000" pitchFamily="2" charset="0"/>
              </a:rPr>
              <a:t>Demo Plan (30 min) – What We Will Show</a:t>
            </a:r>
            <a:endParaRPr lang="en-US" sz="4000" spc="-35">
              <a:solidFill>
                <a:schemeClr val="tx2">
                  <a:lumMod val="60000"/>
                  <a:lumOff val="40000"/>
                </a:schemeClr>
              </a:solidFill>
              <a:latin typeface="Poppins" panose="00000500000000000000" pitchFamily="2" charset="0"/>
              <a:ea typeface="Poppins"/>
              <a:cs typeface="Poppins" panose="00000500000000000000" pitchFamily="2" charset="0"/>
              <a:sym typeface="Poppins"/>
            </a:endParaRPr>
          </a:p>
        </p:txBody>
      </p:sp>
      <p:pic>
        <p:nvPicPr>
          <p:cNvPr id="41" name="object 3">
            <a:extLst>
              <a:ext uri="{FF2B5EF4-FFF2-40B4-BE49-F238E27FC236}">
                <a16:creationId xmlns:a16="http://schemas.microsoft.com/office/drawing/2014/main" id="{D284D2BF-34E7-E450-550E-DAD6D0B99C2C}"/>
              </a:ext>
            </a:extLst>
          </p:cNvPr>
          <p:cNvPicPr/>
          <p:nvPr/>
        </p:nvPicPr>
        <p:blipFill>
          <a:blip r:embed="rId2" cstate="print"/>
          <a:stretch>
            <a:fillRect/>
          </a:stretch>
        </p:blipFill>
        <p:spPr>
          <a:xfrm>
            <a:off x="0" y="9640732"/>
            <a:ext cx="3246120" cy="684368"/>
          </a:xfrm>
          <a:prstGeom prst="rect">
            <a:avLst/>
          </a:prstGeom>
        </p:spPr>
      </p:pic>
      <p:sp>
        <p:nvSpPr>
          <p:cNvPr id="42" name="object 4">
            <a:extLst>
              <a:ext uri="{FF2B5EF4-FFF2-40B4-BE49-F238E27FC236}">
                <a16:creationId xmlns:a16="http://schemas.microsoft.com/office/drawing/2014/main" id="{8ED06AC3-BCBB-007E-B317-DC570A0FE13A}"/>
              </a:ext>
            </a:extLst>
          </p:cNvPr>
          <p:cNvSpPr txBox="1"/>
          <p:nvPr/>
        </p:nvSpPr>
        <p:spPr>
          <a:xfrm>
            <a:off x="14412362" y="9704646"/>
            <a:ext cx="2209800" cy="443711"/>
          </a:xfrm>
          <a:prstGeom prst="rect">
            <a:avLst/>
          </a:prstGeom>
        </p:spPr>
        <p:txBody>
          <a:bodyPr vert="horz" wrap="square" lIns="0" tIns="12700" rIns="0" bIns="0" rtlCol="0">
            <a:spAutoFit/>
          </a:bodyPr>
          <a:lstStyle/>
          <a:p>
            <a:pPr marL="12700">
              <a:lnSpc>
                <a:spcPct val="100000"/>
              </a:lnSpc>
              <a:spcBef>
                <a:spcPts val="100"/>
              </a:spcBef>
            </a:pPr>
            <a:r>
              <a:rPr lang="en-US" sz="2800" b="1" spc="-10">
                <a:latin typeface="Cambria"/>
                <a:cs typeface="Cambria"/>
              </a:rPr>
              <a:t>3</a:t>
            </a:r>
            <a:r>
              <a:rPr sz="2800" b="1" spc="-10">
                <a:latin typeface="Cambria"/>
                <a:cs typeface="Cambria"/>
              </a:rPr>
              <a:t>/</a:t>
            </a:r>
            <a:r>
              <a:rPr lang="si-LK" sz="2800" b="1" spc="-10">
                <a:latin typeface="Cambria"/>
                <a:cs typeface="Cambria"/>
              </a:rPr>
              <a:t>1</a:t>
            </a:r>
            <a:r>
              <a:rPr lang="en-US" sz="2800" b="1" spc="-10">
                <a:latin typeface="Cambria"/>
                <a:cs typeface="Cambria"/>
              </a:rPr>
              <a:t>0</a:t>
            </a:r>
            <a:r>
              <a:rPr sz="2800" b="1" spc="-10">
                <a:latin typeface="Cambria"/>
                <a:cs typeface="Cambria"/>
              </a:rPr>
              <a:t>/202</a:t>
            </a:r>
            <a:r>
              <a:rPr lang="en-US" sz="2800" b="1" spc="-10">
                <a:latin typeface="Cambria"/>
                <a:cs typeface="Cambria"/>
              </a:rPr>
              <a:t>6</a:t>
            </a:r>
            <a:endParaRPr sz="2800">
              <a:latin typeface="Cambria"/>
              <a:cs typeface="Cambria"/>
            </a:endParaRPr>
          </a:p>
        </p:txBody>
      </p:sp>
      <p:sp>
        <p:nvSpPr>
          <p:cNvPr id="43" name="Slide Number Placeholder 35">
            <a:extLst>
              <a:ext uri="{FF2B5EF4-FFF2-40B4-BE49-F238E27FC236}">
                <a16:creationId xmlns:a16="http://schemas.microsoft.com/office/drawing/2014/main" id="{D2B14044-4D2D-DA61-15C6-2BF783C45616}"/>
              </a:ext>
            </a:extLst>
          </p:cNvPr>
          <p:cNvSpPr txBox="1">
            <a:spLocks/>
          </p:cNvSpPr>
          <p:nvPr/>
        </p:nvSpPr>
        <p:spPr>
          <a:xfrm>
            <a:off x="15773714" y="97313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800" b="1" smtClean="0">
                <a:solidFill>
                  <a:schemeClr val="tx1"/>
                </a:solidFill>
                <a:latin typeface="Cambria" panose="02040503050406030204" pitchFamily="18" charset="0"/>
                <a:ea typeface="Cambria" panose="02040503050406030204" pitchFamily="18" charset="0"/>
              </a:rPr>
              <a:pPr/>
              <a:t>6</a:t>
            </a:fld>
            <a:endParaRPr lang="en-US" sz="2800" b="1">
              <a:solidFill>
                <a:schemeClr val="tx1"/>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4F36D955-8529-562E-DA9C-51DFABE026E3}"/>
              </a:ext>
            </a:extLst>
          </p:cNvPr>
          <p:cNvSpPr txBox="1"/>
          <p:nvPr/>
        </p:nvSpPr>
        <p:spPr>
          <a:xfrm>
            <a:off x="763687" y="1686642"/>
            <a:ext cx="16759027" cy="2252861"/>
          </a:xfrm>
          <a:prstGeom prst="rect">
            <a:avLst/>
          </a:prstGeom>
          <a:noFill/>
        </p:spPr>
        <p:txBody>
          <a:bodyPr wrap="square" lIns="91440" tIns="45720" rIns="91440" bIns="45720" anchor="t">
            <a:spAutoFit/>
          </a:bodyPr>
          <a:lstStyle/>
          <a:p>
            <a:pPr>
              <a:lnSpc>
                <a:spcPct val="150000"/>
              </a:lnSpc>
            </a:pPr>
            <a:r>
              <a:rPr lang="en-US" sz="2400">
                <a:latin typeface="Poppins" panose="00000500000000000000" pitchFamily="2" charset="0"/>
                <a:cs typeface="Poppins" panose="00000500000000000000" pitchFamily="2" charset="0"/>
              </a:rPr>
              <a:t>Waste detection → Robot collects garbage → Puts the waste item to the robot’s bin → Robot’s Navigation (Obstacle Avoidance + Edge Detection) → Bin level monitoring → Robot moves to disposal station → Bin level monitoring → Again start navigation → Robot moves to disposal station → Waste classification → Robotic arm sorts waste into bins</a:t>
            </a:r>
          </a:p>
        </p:txBody>
      </p:sp>
      <p:sp>
        <p:nvSpPr>
          <p:cNvPr id="8" name="TextBox 7">
            <a:extLst>
              <a:ext uri="{FF2B5EF4-FFF2-40B4-BE49-F238E27FC236}">
                <a16:creationId xmlns:a16="http://schemas.microsoft.com/office/drawing/2014/main" id="{CDA7EAD9-487D-CD65-8CF4-AF6A00011046}"/>
              </a:ext>
            </a:extLst>
          </p:cNvPr>
          <p:cNvSpPr txBox="1"/>
          <p:nvPr/>
        </p:nvSpPr>
        <p:spPr>
          <a:xfrm>
            <a:off x="763688" y="4454646"/>
            <a:ext cx="16622242" cy="2252861"/>
          </a:xfrm>
          <a:prstGeom prst="rect">
            <a:avLst/>
          </a:prstGeom>
          <a:noFill/>
        </p:spPr>
        <p:txBody>
          <a:bodyPr wrap="square" lIns="91440" tIns="45720" rIns="91440" bIns="45720" anchor="t">
            <a:spAutoFit/>
          </a:bodyPr>
          <a:lstStyle/>
          <a:p>
            <a:pPr marL="457200" indent="-457200">
              <a:lnSpc>
                <a:spcPct val="150000"/>
              </a:lnSpc>
              <a:buFont typeface="+mj-lt"/>
              <a:buAutoNum type="arabicParenR"/>
            </a:pPr>
            <a:r>
              <a:rPr lang="en-US" sz="2400">
                <a:latin typeface="Poppins" panose="00000500000000000000" pitchFamily="2" charset="0"/>
                <a:cs typeface="Poppins" panose="00000500000000000000" pitchFamily="2" charset="0"/>
              </a:rPr>
              <a:t>Perera W.B.N. → Waste detection model &amp; Waste collecting arm</a:t>
            </a:r>
          </a:p>
          <a:p>
            <a:pPr marL="457200" indent="-457200">
              <a:lnSpc>
                <a:spcPct val="150000"/>
              </a:lnSpc>
              <a:buFont typeface="+mj-lt"/>
              <a:buAutoNum type="arabicParenR"/>
            </a:pPr>
            <a:r>
              <a:rPr lang="en-US" sz="2400" err="1">
                <a:latin typeface="Poppins" panose="00000500000000000000" pitchFamily="2" charset="0"/>
                <a:cs typeface="Poppins" panose="00000500000000000000" pitchFamily="2" charset="0"/>
              </a:rPr>
              <a:t>Sendanayaka</a:t>
            </a:r>
            <a:r>
              <a:rPr lang="en-US" sz="2400">
                <a:latin typeface="Poppins" panose="00000500000000000000" pitchFamily="2" charset="0"/>
                <a:cs typeface="Poppins" panose="00000500000000000000" pitchFamily="2" charset="0"/>
              </a:rPr>
              <a:t> H.K. → Robot navigation (Obstacle avoidance &amp; edge detection) &amp; Garbage disposal</a:t>
            </a:r>
          </a:p>
          <a:p>
            <a:pPr marL="457200" indent="-457200">
              <a:lnSpc>
                <a:spcPct val="150000"/>
              </a:lnSpc>
              <a:buFont typeface="+mj-lt"/>
              <a:buAutoNum type="arabicParenR"/>
            </a:pPr>
            <a:r>
              <a:rPr lang="en-US" sz="2400" err="1">
                <a:latin typeface="Poppins" panose="00000500000000000000" pitchFamily="2" charset="0"/>
                <a:cs typeface="Poppins" panose="00000500000000000000" pitchFamily="2" charset="0"/>
              </a:rPr>
              <a:t>Nuwanthi</a:t>
            </a:r>
            <a:r>
              <a:rPr lang="en-US" sz="2400">
                <a:latin typeface="Poppins" panose="00000500000000000000" pitchFamily="2" charset="0"/>
                <a:cs typeface="Poppins" panose="00000500000000000000" pitchFamily="2" charset="0"/>
              </a:rPr>
              <a:t> B.D.T. → Waste classification model &amp; Head count detection model</a:t>
            </a:r>
          </a:p>
          <a:p>
            <a:pPr marL="457200" indent="-457200">
              <a:lnSpc>
                <a:spcPct val="150000"/>
              </a:lnSpc>
              <a:buFont typeface="+mj-lt"/>
              <a:buAutoNum type="arabicParenR"/>
            </a:pPr>
            <a:r>
              <a:rPr lang="en-US" sz="2400">
                <a:latin typeface="Poppins" panose="00000500000000000000" pitchFamily="2" charset="0"/>
                <a:cs typeface="Poppins" panose="00000500000000000000" pitchFamily="2" charset="0"/>
              </a:rPr>
              <a:t>Jayasekara R.G.S. → Classification robotic arm &amp; Disposal bin monitoring</a:t>
            </a:r>
          </a:p>
        </p:txBody>
      </p:sp>
      <p:sp>
        <p:nvSpPr>
          <p:cNvPr id="10" name="TextBox 9">
            <a:extLst>
              <a:ext uri="{FF2B5EF4-FFF2-40B4-BE49-F238E27FC236}">
                <a16:creationId xmlns:a16="http://schemas.microsoft.com/office/drawing/2014/main" id="{54098B8D-E167-7752-B79D-B6FBD564770D}"/>
              </a:ext>
            </a:extLst>
          </p:cNvPr>
          <p:cNvSpPr txBox="1"/>
          <p:nvPr/>
        </p:nvSpPr>
        <p:spPr>
          <a:xfrm>
            <a:off x="763686" y="3885880"/>
            <a:ext cx="9370005"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Where Each Member Takes Over :</a:t>
            </a:r>
          </a:p>
        </p:txBody>
      </p:sp>
      <p:sp>
        <p:nvSpPr>
          <p:cNvPr id="12" name="TextBox 11">
            <a:extLst>
              <a:ext uri="{FF2B5EF4-FFF2-40B4-BE49-F238E27FC236}">
                <a16:creationId xmlns:a16="http://schemas.microsoft.com/office/drawing/2014/main" id="{E11A1B73-AB83-A874-EA51-65269691D24F}"/>
              </a:ext>
            </a:extLst>
          </p:cNvPr>
          <p:cNvSpPr txBox="1"/>
          <p:nvPr/>
        </p:nvSpPr>
        <p:spPr>
          <a:xfrm>
            <a:off x="763686" y="1096422"/>
            <a:ext cx="9370005"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Demo Flow (End-to-End) </a:t>
            </a:r>
            <a:r>
              <a:rPr lang="en-US" sz="3000" b="1">
                <a:solidFill>
                  <a:schemeClr val="accent1">
                    <a:lumMod val="75000"/>
                  </a:schemeClr>
                </a:solidFill>
                <a:latin typeface="Poppins"/>
                <a:cs typeface="Poppins"/>
              </a:rPr>
              <a:t>:</a:t>
            </a:r>
          </a:p>
        </p:txBody>
      </p:sp>
      <p:sp>
        <p:nvSpPr>
          <p:cNvPr id="16" name="TextBox 15">
            <a:extLst>
              <a:ext uri="{FF2B5EF4-FFF2-40B4-BE49-F238E27FC236}">
                <a16:creationId xmlns:a16="http://schemas.microsoft.com/office/drawing/2014/main" id="{BDAEB357-9210-D276-3AA8-11BA5658B9B4}"/>
              </a:ext>
            </a:extLst>
          </p:cNvPr>
          <p:cNvSpPr txBox="1"/>
          <p:nvPr/>
        </p:nvSpPr>
        <p:spPr>
          <a:xfrm>
            <a:off x="768170" y="7311983"/>
            <a:ext cx="16995395" cy="594009"/>
          </a:xfrm>
          <a:prstGeom prst="rect">
            <a:avLst/>
          </a:prstGeom>
          <a:noFill/>
        </p:spPr>
        <p:txBody>
          <a:bodyPr wrap="square" lIns="91440" tIns="45720" rIns="91440" bIns="45720" anchor="t">
            <a:spAutoFit/>
          </a:bodyPr>
          <a:lstStyle/>
          <a:p>
            <a:pPr marL="457200" indent="-457200">
              <a:lnSpc>
                <a:spcPct val="150000"/>
              </a:lnSpc>
              <a:buFont typeface="Wingdings" panose="05000000000000000000" pitchFamily="2" charset="2"/>
              <a:buChar char="q"/>
            </a:pPr>
            <a:r>
              <a:rPr lang="en-US" sz="2400">
                <a:latin typeface="Poppins" panose="00000500000000000000" pitchFamily="2" charset="0"/>
                <a:cs typeface="Poppins" panose="00000500000000000000" pitchFamily="2" charset="0"/>
              </a:rPr>
              <a:t>Recorded demo video, screenshots of system operation, and prepared test images/data for classification</a:t>
            </a:r>
          </a:p>
        </p:txBody>
      </p:sp>
      <p:sp>
        <p:nvSpPr>
          <p:cNvPr id="17" name="TextBox 16">
            <a:extLst>
              <a:ext uri="{FF2B5EF4-FFF2-40B4-BE49-F238E27FC236}">
                <a16:creationId xmlns:a16="http://schemas.microsoft.com/office/drawing/2014/main" id="{6BE1427B-B5AF-10C7-C920-F28A383E9C12}"/>
              </a:ext>
            </a:extLst>
          </p:cNvPr>
          <p:cNvSpPr txBox="1"/>
          <p:nvPr/>
        </p:nvSpPr>
        <p:spPr>
          <a:xfrm>
            <a:off x="763687" y="8629991"/>
            <a:ext cx="16995395" cy="446276"/>
          </a:xfrm>
          <a:prstGeom prst="rect">
            <a:avLst/>
          </a:prstGeom>
          <a:noFill/>
        </p:spPr>
        <p:txBody>
          <a:bodyPr wrap="square" lIns="91440" tIns="45720" rIns="91440" bIns="45720" anchor="t">
            <a:spAutoFit/>
          </a:bodyPr>
          <a:lstStyle/>
          <a:p>
            <a:pPr marL="457200" indent="-457200">
              <a:buFont typeface="Wingdings" panose="05000000000000000000" pitchFamily="2" charset="2"/>
              <a:buChar char="q"/>
            </a:pPr>
            <a:r>
              <a:rPr lang="en-US" sz="2300">
                <a:latin typeface="Poppins" panose="00000500000000000000" pitchFamily="2" charset="0"/>
                <a:cs typeface="Poppins" panose="00000500000000000000" pitchFamily="2" charset="0"/>
              </a:rPr>
              <a:t>Autonomous navigation, waste detection accuracy, classification accuracy, and successful waste segregation</a:t>
            </a:r>
          </a:p>
        </p:txBody>
      </p:sp>
      <p:sp>
        <p:nvSpPr>
          <p:cNvPr id="18" name="TextBox 17">
            <a:extLst>
              <a:ext uri="{FF2B5EF4-FFF2-40B4-BE49-F238E27FC236}">
                <a16:creationId xmlns:a16="http://schemas.microsoft.com/office/drawing/2014/main" id="{EA913BE1-34CF-563D-1EE9-874947DB8936}"/>
              </a:ext>
            </a:extLst>
          </p:cNvPr>
          <p:cNvSpPr txBox="1"/>
          <p:nvPr/>
        </p:nvSpPr>
        <p:spPr>
          <a:xfrm>
            <a:off x="763686" y="7925684"/>
            <a:ext cx="9580352"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What to Watch For :</a:t>
            </a:r>
          </a:p>
        </p:txBody>
      </p:sp>
      <p:sp>
        <p:nvSpPr>
          <p:cNvPr id="19" name="TextBox 18">
            <a:extLst>
              <a:ext uri="{FF2B5EF4-FFF2-40B4-BE49-F238E27FC236}">
                <a16:creationId xmlns:a16="http://schemas.microsoft.com/office/drawing/2014/main" id="{EA1A8965-058E-7BFE-DE34-F8779E2C721E}"/>
              </a:ext>
            </a:extLst>
          </p:cNvPr>
          <p:cNvSpPr txBox="1"/>
          <p:nvPr/>
        </p:nvSpPr>
        <p:spPr>
          <a:xfrm>
            <a:off x="768169" y="6708316"/>
            <a:ext cx="9370005" cy="719428"/>
          </a:xfrm>
          <a:prstGeom prst="rect">
            <a:avLst/>
          </a:prstGeom>
          <a:noFill/>
        </p:spPr>
        <p:txBody>
          <a:bodyPr wrap="square" lIns="91440" tIns="45720" rIns="91440" bIns="45720" anchor="t">
            <a:spAutoFit/>
          </a:bodyPr>
          <a:lstStyle/>
          <a:p>
            <a:pPr>
              <a:lnSpc>
                <a:spcPct val="150000"/>
              </a:lnSpc>
              <a:buNone/>
            </a:pPr>
            <a:r>
              <a:rPr lang="en-US" sz="3000" b="1">
                <a:solidFill>
                  <a:schemeClr val="accent1">
                    <a:lumMod val="75000"/>
                  </a:schemeClr>
                </a:solidFill>
                <a:latin typeface="Poppins" panose="00000500000000000000" pitchFamily="2" charset="0"/>
                <a:cs typeface="Poppins" panose="00000500000000000000" pitchFamily="2" charset="0"/>
              </a:rPr>
              <a:t>Backup Plan </a:t>
            </a:r>
            <a:r>
              <a:rPr lang="en-US" sz="3000" b="1">
                <a:solidFill>
                  <a:schemeClr val="accent1">
                    <a:lumMod val="75000"/>
                  </a:schemeClr>
                </a:solidFill>
                <a:latin typeface="Poppins"/>
                <a:cs typeface="Poppins"/>
              </a:rPr>
              <a:t>:</a:t>
            </a:r>
          </a:p>
        </p:txBody>
      </p:sp>
    </p:spTree>
    <p:extLst>
      <p:ext uri="{BB962C8B-B14F-4D97-AF65-F5344CB8AC3E}">
        <p14:creationId xmlns:p14="http://schemas.microsoft.com/office/powerpoint/2010/main" val="8230415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09E8A9579CC8429D7A376B3B7F3035" ma:contentTypeVersion="18" ma:contentTypeDescription="Create a new document." ma:contentTypeScope="" ma:versionID="0b70ff9dd18a62f753287050b9752564">
  <xsd:schema xmlns:xsd="http://www.w3.org/2001/XMLSchema" xmlns:xs="http://www.w3.org/2001/XMLSchema" xmlns:p="http://schemas.microsoft.com/office/2006/metadata/properties" xmlns:ns2="cc2309de-b340-4314-83aa-85b788e4bf2e" xmlns:ns3="189402c0-dd1c-414e-a51a-8c88113aa984" targetNamespace="http://schemas.microsoft.com/office/2006/metadata/properties" ma:root="true" ma:fieldsID="26d131fb6b9f9e804864c102276a3153" ns2:_="" ns3:_="">
    <xsd:import namespace="cc2309de-b340-4314-83aa-85b788e4bf2e"/>
    <xsd:import namespace="189402c0-dd1c-414e-a51a-8c88113aa984"/>
    <xsd:element name="properties">
      <xsd:complexType>
        <xsd:sequence>
          <xsd:element name="documentManagement">
            <xsd:complexType>
              <xsd:all>
                <xsd:element ref="ns2:Deadline" minOccurs="0"/>
                <xsd:element ref="ns2:MediaServiceMetadata" minOccurs="0"/>
                <xsd:element ref="ns2:MediaServiceFastMetadata" minOccurs="0"/>
                <xsd:element ref="ns2:MediaServiceSearchProperties" minOccurs="0"/>
                <xsd:element ref="ns2:SubmissionDeadline" minOccurs="0"/>
                <xsd:element ref="ns2:MediaServiceDateTaken" minOccurs="0"/>
                <xsd:element ref="ns3:TaxCatchAll" minOccurs="0"/>
                <xsd:element ref="ns2:MediaServiceOCR" minOccurs="0"/>
                <xsd:element ref="ns2:MediaServiceGenerationTime" minOccurs="0"/>
                <xsd:element ref="ns2:MediaServiceEventHashCode" minOccurs="0"/>
                <xsd:element ref="ns2:lcf76f155ced4ddcb4097134ff3c332f"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2309de-b340-4314-83aa-85b788e4bf2e" elementFormDefault="qualified">
    <xsd:import namespace="http://schemas.microsoft.com/office/2006/documentManagement/types"/>
    <xsd:import namespace="http://schemas.microsoft.com/office/infopath/2007/PartnerControls"/>
    <xsd:element name="Deadline" ma:index="2" nillable="true" ma:displayName="Deadline" ma:format="DateTime" ma:internalName="Deadline">
      <xsd:simpleType>
        <xsd:restriction base="dms:DateTime"/>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SubmissionDeadline" ma:index="12" nillable="true" ma:displayName="Submission Deadline" ma:format="DateTime" ma:internalName="SubmissionDeadline">
      <xsd:simpleType>
        <xsd:restriction base="dms:DateTim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9402c0-dd1c-414e-a51a-8c88113aa98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32821b2-5bf6-43b7-8805-310c66f22b04}" ma:internalName="TaxCatchAll" ma:showField="CatchAllData" ma:web="189402c0-dd1c-414e-a51a-8c88113aa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adline xmlns="cc2309de-b340-4314-83aa-85b788e4bf2e" xsi:nil="true"/>
    <lcf76f155ced4ddcb4097134ff3c332f xmlns="cc2309de-b340-4314-83aa-85b788e4bf2e">
      <Terms xmlns="http://schemas.microsoft.com/office/infopath/2007/PartnerControls"/>
    </lcf76f155ced4ddcb4097134ff3c332f>
    <SubmissionDeadline xmlns="cc2309de-b340-4314-83aa-85b788e4bf2e" xsi:nil="true"/>
    <TaxCatchAll xmlns="189402c0-dd1c-414e-a51a-8c88113aa984" xsi:nil="true"/>
  </documentManagement>
</p:properties>
</file>

<file path=customXml/itemProps1.xml><?xml version="1.0" encoding="utf-8"?>
<ds:datastoreItem xmlns:ds="http://schemas.openxmlformats.org/officeDocument/2006/customXml" ds:itemID="{81FD0A05-A627-463B-A218-1A3E2A1AB76A}">
  <ds:schemaRefs>
    <ds:schemaRef ds:uri="189402c0-dd1c-414e-a51a-8c88113aa984"/>
    <ds:schemaRef ds:uri="cc2309de-b340-4314-83aa-85b788e4bf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391F644-4807-4585-B609-9AE8BBD83E83}">
  <ds:schemaRefs>
    <ds:schemaRef ds:uri="http://schemas.microsoft.com/sharepoint/v3/contenttype/forms"/>
  </ds:schemaRefs>
</ds:datastoreItem>
</file>

<file path=customXml/itemProps3.xml><?xml version="1.0" encoding="utf-8"?>
<ds:datastoreItem xmlns:ds="http://schemas.openxmlformats.org/officeDocument/2006/customXml" ds:itemID="{82777650-B823-43F4-91D1-2057859193E6}">
  <ds:schemaRefs>
    <ds:schemaRef ds:uri="189402c0-dd1c-414e-a51a-8c88113aa984"/>
    <ds:schemaRef ds:uri="cc2309de-b340-4314-83aa-85b788e4bf2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615</Words>
  <Application>Microsoft Office PowerPoint</Application>
  <PresentationFormat>Custom</PresentationFormat>
  <Paragraphs>64</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Poppins</vt:lpstr>
      <vt:lpstr>Wingdings</vt:lpstr>
      <vt:lpstr>Calibri</vt:lpstr>
      <vt:lpstr>Cambria</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Blue Professional Modern Technology Pitch Deck Presentation</dc:title>
  <dc:creator>USER</dc:creator>
  <cp:lastModifiedBy>USER</cp:lastModifiedBy>
  <cp:revision>3</cp:revision>
  <dcterms:created xsi:type="dcterms:W3CDTF">2006-08-16T00:00:00Z</dcterms:created>
  <dcterms:modified xsi:type="dcterms:W3CDTF">2026-04-26T18:49:35Z</dcterms:modified>
  <dc:identifier>DAGyFgMFlhk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0x0101003109E8A9579CC8429D7A376B3B7F3035</vt:lpwstr>
  </property>
  <property fmtid="{D5CDD505-2E9C-101B-9397-08002B2CF9AE}" pid="3" name="MediaServiceImageTags">
    <vt:lpwstr/>
  </property>
</Properties>
</file>